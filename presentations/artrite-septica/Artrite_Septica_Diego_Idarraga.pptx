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9AA7"/>
                </a:solidFill>
                <a:latin typeface="Calibri"/>
              </a:rPr>
              <a:t>REVISÃO CLÍNICA  ·  ORTOPEDIA E TRAUMATOLOGIA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6002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12324F"/>
                </a:solidFill>
                <a:latin typeface="Calibri"/>
              </a:rPr>
              <a:t>Artrite Séptica</a:t>
            </a:r>
          </a:p>
          <a:p>
            <a:pPr algn="l"/>
            <a:r>
              <a:rPr sz="2100" b="0" i="0">
                <a:solidFill>
                  <a:srgbClr val="1F6FB2"/>
                </a:solidFill>
                <a:latin typeface="Calibri Light"/>
              </a:rPr>
              <a:t>Do básico ao avançado — diagnóstico e manejo baseados em evidência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77639"/>
            <a:ext cx="3840480" cy="2794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2324F"/>
                </a:solidFill>
                <a:latin typeface="Calibri"/>
              </a:rPr>
              <a:t>Diego Alejandro Idárraga</a:t>
            </a:r>
          </a:p>
          <a:p>
            <a:pPr algn="l">
              <a:spcAft>
                <a:spcPts val="100"/>
              </a:spcAft>
            </a:pPr>
            <a:r>
              <a:rPr sz="1450" b="0" i="0">
                <a:solidFill>
                  <a:srgbClr val="455A6B"/>
                </a:solidFill>
                <a:latin typeface="Calibri"/>
              </a:rPr>
              <a:t>R2 — Ortopedia e Traumatologia</a:t>
            </a:r>
          </a:p>
          <a:p>
            <a:pPr algn="l"/>
            <a:r>
              <a:rPr sz="1450" b="0" i="0">
                <a:solidFill>
                  <a:srgbClr val="455A6B"/>
                </a:solidFill>
                <a:latin typeface="Calibri"/>
              </a:rPr>
              <a:t>Hospital Municipal Barata Ribeiro — Rio de Janeiro</a:t>
            </a:r>
          </a:p>
        </p:txBody>
      </p:sp>
      <p:sp>
        <p:nvSpPr>
          <p:cNvPr id="9" name="Oval 8"/>
          <p:cNvSpPr/>
          <p:nvPr/>
        </p:nvSpPr>
        <p:spPr>
          <a:xfrm>
            <a:off x="9784080" y="2331720"/>
            <a:ext cx="1554480" cy="1554480"/>
          </a:xfrm>
          <a:prstGeom prst="ellipse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76688" y="2624328"/>
            <a:ext cx="969264" cy="96926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64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51008" y="2898648"/>
            <a:ext cx="420624" cy="42062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BA8"/>
                </a:solidFill>
                <a:latin typeface="Calibri"/>
              </a:rPr>
              <a:t>Rio de Janeiro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9AA7"/>
                </a:solidFill>
                <a:latin typeface="Calibri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02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691640"/>
            <a:ext cx="5257800" cy="960120"/>
          </a:xfrm>
          <a:prstGeom prst="roundRect">
            <a:avLst>
              <a:gd name="adj" fmla="val 9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01368"/>
            <a:ext cx="914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9AA7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943" y="1837944"/>
            <a:ext cx="4069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2324F"/>
                </a:solidFill>
                <a:latin typeface="Calibri"/>
              </a:rPr>
              <a:t>Fundamentos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Definição, epidemiologia e classificação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1691640"/>
            <a:ext cx="5257800" cy="960120"/>
          </a:xfrm>
          <a:prstGeom prst="roundRect">
            <a:avLst>
              <a:gd name="adj" fmla="val 9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801368"/>
            <a:ext cx="914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9AA7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3" y="1837944"/>
            <a:ext cx="4069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2324F"/>
                </a:solidFill>
                <a:latin typeface="Calibri"/>
              </a:rPr>
              <a:t>Microbiologia e fisiopatologia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Agentes etiológicos e vias de infecção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2798064"/>
            <a:ext cx="5257800" cy="960120"/>
          </a:xfrm>
          <a:prstGeom prst="roundRect">
            <a:avLst>
              <a:gd name="adj" fmla="val 9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907792"/>
            <a:ext cx="914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9AA7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7943" y="2944368"/>
            <a:ext cx="4069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2324F"/>
                </a:solidFill>
                <a:latin typeface="Calibri"/>
              </a:rPr>
              <a:t>Quadro clínico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Apresentação, fatores de risco e articulações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2798064"/>
            <a:ext cx="5257800" cy="960120"/>
          </a:xfrm>
          <a:prstGeom prst="roundRect">
            <a:avLst>
              <a:gd name="adj" fmla="val 9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907792"/>
            <a:ext cx="914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9AA7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3" y="2944368"/>
            <a:ext cx="4069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2324F"/>
                </a:solidFill>
                <a:latin typeface="Calibri"/>
              </a:rPr>
              <a:t>Diagnóstico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Laboratório, líquido sinovial, imagem e algoritmos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3904487"/>
            <a:ext cx="5257800" cy="960120"/>
          </a:xfrm>
          <a:prstGeom prst="roundRect">
            <a:avLst>
              <a:gd name="adj" fmla="val 9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014215"/>
            <a:ext cx="914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9AA7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7943" y="4050791"/>
            <a:ext cx="4069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2324F"/>
                </a:solidFill>
                <a:latin typeface="Calibri"/>
              </a:rPr>
              <a:t>Artrite séptica pediátrica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Critérios de Kocher e Caird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4224" y="3904487"/>
            <a:ext cx="5257800" cy="960120"/>
          </a:xfrm>
          <a:prstGeom prst="roundRect">
            <a:avLst>
              <a:gd name="adj" fmla="val 9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4014215"/>
            <a:ext cx="914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9AA7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3" y="4050791"/>
            <a:ext cx="4069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2324F"/>
                </a:solidFill>
                <a:latin typeface="Calibri"/>
              </a:rPr>
              <a:t>Tratamento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Antibioticoterapia e drenagem articular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5010912"/>
            <a:ext cx="5257800" cy="960120"/>
          </a:xfrm>
          <a:prstGeom prst="roundRect">
            <a:avLst>
              <a:gd name="adj" fmla="val 9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120640"/>
            <a:ext cx="914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9AA7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37943" y="5157216"/>
            <a:ext cx="4069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2324F"/>
                </a:solidFill>
                <a:latin typeface="Calibri"/>
              </a:rPr>
              <a:t>Cenários avançados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Artrite gonocócica e infecção de prótese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64224" y="5010912"/>
            <a:ext cx="5257800" cy="960120"/>
          </a:xfrm>
          <a:prstGeom prst="roundRect">
            <a:avLst>
              <a:gd name="adj" fmla="val 9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5120640"/>
            <a:ext cx="914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9AA7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5783" y="5157216"/>
            <a:ext cx="4069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2324F"/>
                </a:solidFill>
                <a:latin typeface="Calibri"/>
              </a:rPr>
              <a:t>Complicações e prognóstico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Desfechos e mensagens-chave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6FB2"/>
                </a:solidFill>
                <a:latin typeface="Calibri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Definição e conceitos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03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600200"/>
            <a:ext cx="6492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455A6B"/>
                </a:solidFill>
                <a:latin typeface="Calibri"/>
              </a:rPr>
              <a:t>Invasão do espaço articular por microrganismos </a:t>
            </a:r>
            <a:r>
              <a:rPr sz="1600" b="0" i="1">
                <a:solidFill>
                  <a:srgbClr val="455A6B"/>
                </a:solidFill>
                <a:latin typeface="Calibri"/>
              </a:rPr>
              <a:t>(bactérias, fungos ou micobactérias)</a:t>
            </a:r>
            <a:r>
              <a:rPr sz="1600" b="0" i="0">
                <a:solidFill>
                  <a:srgbClr val="455A6B"/>
                </a:solidFill>
                <a:latin typeface="Calibri"/>
              </a:rPr>
              <a:t>, com resposta inflamatória intensa que leva à destruição da cartilagem em horas a dias.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880360"/>
            <a:ext cx="6492240" cy="914400"/>
          </a:xfrm>
          <a:prstGeom prst="roundRect">
            <a:avLst>
              <a:gd name="adj" fmla="val 6000"/>
            </a:avLst>
          </a:prstGeom>
          <a:solidFill>
            <a:srgbClr val="FA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2880360"/>
            <a:ext cx="100584" cy="914400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99232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D64541"/>
                </a:solidFill>
                <a:latin typeface="Calibri"/>
              </a:rPr>
              <a:t>EMERGÊNCIA ORTOPÉDICA</a:t>
            </a:r>
          </a:p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A cartilagem hialina pode ser irreversivelmente lesada já nas primeiras 24–48 h. Diagnóstico e drenagem são tempo-dependentes.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5544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B2"/>
                </a:solidFill>
                <a:latin typeface="Calibri"/>
              </a:rPr>
              <a:t>TERMOS RELACIONADOS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1975104"/>
            <a:ext cx="109728" cy="45720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192024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2324F"/>
                </a:solidFill>
                <a:latin typeface="Calibri"/>
              </a:rPr>
              <a:t>Artrite séptica nativa</a:t>
            </a:r>
          </a:p>
          <a:p>
            <a:pPr algn="l"/>
            <a:r>
              <a:rPr sz="1050" b="0" i="0">
                <a:solidFill>
                  <a:srgbClr val="8A9BA8"/>
                </a:solidFill>
                <a:latin typeface="Calibri"/>
              </a:rPr>
              <a:t>Articulação sem implante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2688336"/>
            <a:ext cx="109728" cy="45720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1271" y="263347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2324F"/>
                </a:solidFill>
                <a:latin typeface="Calibri"/>
              </a:rPr>
              <a:t>Artrite gonocócica</a:t>
            </a:r>
          </a:p>
          <a:p>
            <a:pPr algn="l"/>
            <a:r>
              <a:rPr sz="1050" b="0" i="0">
                <a:solidFill>
                  <a:srgbClr val="8A9BA8"/>
                </a:solidFill>
                <a:latin typeface="Calibri"/>
              </a:rPr>
              <a:t>N. gonorrhoeae disseminada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3401568"/>
            <a:ext cx="109728" cy="45720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1" y="334670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2324F"/>
                </a:solidFill>
                <a:latin typeface="Calibri"/>
              </a:rPr>
              <a:t>Infecção de prótese (PJI)</a:t>
            </a:r>
          </a:p>
          <a:p>
            <a:pPr algn="l"/>
            <a:r>
              <a:rPr sz="1050" b="0" i="0">
                <a:solidFill>
                  <a:srgbClr val="8A9BA8"/>
                </a:solidFill>
                <a:latin typeface="Calibri"/>
              </a:rPr>
              <a:t>Articulação com implante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4114800"/>
            <a:ext cx="109728" cy="45720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4059936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2324F"/>
                </a:solidFill>
                <a:latin typeface="Calibri"/>
              </a:rPr>
              <a:t>Pioartrose</a:t>
            </a:r>
          </a:p>
          <a:p>
            <a:pPr algn="l"/>
            <a:r>
              <a:rPr sz="1050" b="0" i="0">
                <a:solidFill>
                  <a:srgbClr val="8A9BA8"/>
                </a:solidFill>
                <a:latin typeface="Calibri"/>
              </a:rPr>
              <a:t>Sinônimo clássico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Mathews CJ et al. Bacterial septic arthritis in adults. Lancet 2010;375:846–855.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6FB2"/>
                </a:solidFill>
                <a:latin typeface="Calibri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Epidemiologia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04 / 30</a:t>
            </a:r>
          </a:p>
        </p:txBody>
      </p:sp>
      <p:pic>
        <p:nvPicPr>
          <p:cNvPr id="8" name="Picture 7" descr="epi_incid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6583680" cy="39722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" y="1572768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55A6B"/>
                </a:solidFill>
                <a:latin typeface="Calibri"/>
              </a:rPr>
              <a:t>Incidência estimada por grupo de risco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737360"/>
            <a:ext cx="3749039" cy="128016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920240"/>
            <a:ext cx="1554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6FB2"/>
                </a:solidFill>
                <a:latin typeface="Calibri"/>
              </a:rPr>
              <a:t>2–10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920240"/>
            <a:ext cx="1737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55A6B"/>
                </a:solidFill>
                <a:latin typeface="Calibri"/>
              </a:rPr>
              <a:t>casos / 100.000 hab-ano
na população geral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127248"/>
            <a:ext cx="3749039" cy="128016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310128"/>
            <a:ext cx="1554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1A140"/>
                </a:solidFill>
                <a:latin typeface="Calibri"/>
              </a:rPr>
              <a:t>↑ risco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3310128"/>
            <a:ext cx="1737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55A6B"/>
                </a:solidFill>
                <a:latin typeface="Calibri"/>
              </a:rPr>
              <a:t>idade avançada, AR, diabetes,
imunossupressão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517136"/>
            <a:ext cx="3749039" cy="128016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700016"/>
            <a:ext cx="1554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64541"/>
                </a:solidFill>
                <a:latin typeface="Calibri"/>
              </a:rPr>
              <a:t>7–15%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4700016"/>
            <a:ext cx="1737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55A6B"/>
                </a:solidFill>
                <a:latin typeface="Calibri"/>
              </a:rPr>
              <a:t>letalidade em adultos
(até 50% se poliarticular)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Mathews CJ et al. Lancet 2010. · Kaandorp CJE et al. Arthritis Rheum 1997.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6FB2"/>
                </a:solidFill>
                <a:latin typeface="Calibri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Classificação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05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828800"/>
            <a:ext cx="3520440" cy="640080"/>
          </a:xfrm>
          <a:prstGeom prst="round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74519"/>
            <a:ext cx="3520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Segundo a articulação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697480"/>
            <a:ext cx="3520440" cy="123444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2880360"/>
            <a:ext cx="3063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324F"/>
                </a:solidFill>
                <a:latin typeface="Calibri"/>
              </a:rPr>
              <a:t>Nativa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sem implante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069080"/>
            <a:ext cx="3520440" cy="123444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4251960"/>
            <a:ext cx="3063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324F"/>
                </a:solidFill>
                <a:latin typeface="Calibri"/>
              </a:rPr>
              <a:t>Protésica (PJI)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com implante articular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62856" y="1828800"/>
            <a:ext cx="3520440" cy="64008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1874519"/>
            <a:ext cx="3520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Segundo o agente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2856" y="2697480"/>
            <a:ext cx="3520440" cy="123444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456" y="2880360"/>
            <a:ext cx="3063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324F"/>
                </a:solidFill>
                <a:latin typeface="Calibri"/>
              </a:rPr>
              <a:t>Gonocócica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adulto jovem, sexualmente ativo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62856" y="4069080"/>
            <a:ext cx="3520440" cy="123444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1456" y="4251960"/>
            <a:ext cx="3063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324F"/>
                </a:solidFill>
                <a:latin typeface="Calibri"/>
              </a:rPr>
              <a:t>Não gonocócica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S. aureus e outros piogênicos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327" y="1828800"/>
            <a:ext cx="3520440" cy="640080"/>
          </a:xfrm>
          <a:prstGeom prst="roundRect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1874519"/>
            <a:ext cx="3520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Segundo a evolução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9327" y="2697480"/>
            <a:ext cx="3520440" cy="123444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7928" y="2880360"/>
            <a:ext cx="3063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324F"/>
                </a:solidFill>
                <a:latin typeface="Calibri"/>
              </a:rPr>
              <a:t>Aguda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&lt; 2 semanas, piogênica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4069080"/>
            <a:ext cx="3520440" cy="123444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67928" y="4251960"/>
            <a:ext cx="3063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324F"/>
                </a:solidFill>
                <a:latin typeface="Calibri"/>
              </a:rPr>
              <a:t>Crônica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micobactérias, fungos, brucella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Classificação com implicações microbiológicas, terapêuticas e prognósticas.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64541"/>
                </a:solidFill>
                <a:latin typeface="Calibri"/>
              </a:rPr>
              <a:t>ETIOLOGIA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Microbiologia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06 / 30</a:t>
            </a:r>
          </a:p>
        </p:txBody>
      </p:sp>
      <p:pic>
        <p:nvPicPr>
          <p:cNvPr id="8" name="Picture 7" descr="microbiolo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6766560" cy="29014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" y="1572768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55A6B"/>
                </a:solidFill>
                <a:latin typeface="Calibri"/>
              </a:rPr>
              <a:t>Agentes na artrite séptica nativa não gonocócica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828800"/>
            <a:ext cx="109728" cy="777240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178308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2324F"/>
                </a:solidFill>
                <a:latin typeface="Calibri"/>
              </a:rPr>
              <a:t>S. aureus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agente mais frequente; alta virulência e destruição rápida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816352"/>
            <a:ext cx="109728" cy="7772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2770632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2324F"/>
                </a:solidFill>
                <a:latin typeface="Calibri"/>
              </a:rPr>
              <a:t>Estreptococos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S. pyogenes, S. agalactiae, S. pneumoniae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3803904"/>
            <a:ext cx="109728" cy="77724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3758184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2324F"/>
                </a:solidFill>
                <a:latin typeface="Calibri"/>
              </a:rPr>
              <a:t>Gram-negativos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idosos, UDIV, imunossuprimidos, ITU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4791456"/>
            <a:ext cx="109728" cy="777240"/>
          </a:xfrm>
          <a:prstGeom prst="rect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4745736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2324F"/>
                </a:solidFill>
                <a:latin typeface="Calibri"/>
              </a:rPr>
              <a:t>Situações especiais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gonococo (jovens), Salmonella (anemia falciforme)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Distribuição aproximada a partir de séries de artrite séptica nativa (Mathews 2010; Ross 2017).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64541"/>
                </a:solidFill>
                <a:latin typeface="Calibri"/>
              </a:rPr>
              <a:t>FISIOPATOLOGIA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Vias de infecção e lesão articular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07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41732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Hematogênica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 mais comum;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foco à distância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78892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Inoculação direta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trauma, punção,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artroscopia, infiltração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416052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Contiguidade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osteomielite,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celulite adjacente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2468880"/>
            <a:ext cx="2286000" cy="1280160"/>
          </a:xfrm>
          <a:prstGeom prst="roundRect">
            <a:avLst>
              <a:gd name="adj" fmla="val 12000"/>
            </a:avLst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Membrana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sinovial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infectada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38144" y="1938528"/>
            <a:ext cx="539495" cy="1170432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38144" y="3108960"/>
            <a:ext cx="539495" cy="201167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38144" y="3108960"/>
            <a:ext cx="539495" cy="1572768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09360" y="3108960"/>
            <a:ext cx="640080" cy="0"/>
          </a:xfrm>
          <a:prstGeom prst="line">
            <a:avLst/>
          </a:prstGeom>
          <a:ln w="27940">
            <a:solidFill>
              <a:srgbClr val="1232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86600" y="1417320"/>
            <a:ext cx="4434840" cy="896112"/>
          </a:xfrm>
          <a:prstGeom prst="roundRect">
            <a:avLst>
              <a:gd name="adj" fmla="val 9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86600" y="1417320"/>
            <a:ext cx="91440" cy="89611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536192"/>
            <a:ext cx="4114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2324F"/>
                </a:solidFill>
                <a:latin typeface="Calibri"/>
              </a:rPr>
              <a:t>1. Resposta imune e enzimas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PMN liberam proteases e citocinas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2441448"/>
            <a:ext cx="4434840" cy="896112"/>
          </a:xfrm>
          <a:prstGeom prst="roundRect">
            <a:avLst>
              <a:gd name="adj" fmla="val 9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86600" y="2441448"/>
            <a:ext cx="91440" cy="896112"/>
          </a:xfrm>
          <a:prstGeom prst="rect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2560320"/>
            <a:ext cx="4114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2324F"/>
                </a:solidFill>
                <a:latin typeface="Calibri"/>
              </a:rPr>
              <a:t>2. Aumento da pressão intra-articular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compromete perfusão da cartilagem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3465576"/>
            <a:ext cx="4434840" cy="896112"/>
          </a:xfrm>
          <a:prstGeom prst="roundRect">
            <a:avLst>
              <a:gd name="adj" fmla="val 9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86600" y="3465576"/>
            <a:ext cx="91440" cy="89611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3584448"/>
            <a:ext cx="4114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2324F"/>
                </a:solidFill>
                <a:latin typeface="Calibri"/>
              </a:rPr>
              <a:t>3. Degradação da cartilagem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condrólise em 24–48 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4489704"/>
            <a:ext cx="4434840" cy="896112"/>
          </a:xfrm>
          <a:prstGeom prst="roundRect">
            <a:avLst>
              <a:gd name="adj" fmla="val 9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86600" y="4489704"/>
            <a:ext cx="91440" cy="896112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4608576"/>
            <a:ext cx="4114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2324F"/>
                </a:solidFill>
                <a:latin typeface="Calibri"/>
              </a:rPr>
              <a:t>4. Dano articular irreversível</a:t>
            </a:r>
          </a:p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artrose secundária, anquilose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A via hematogênica responde pela maioria dos casos; a cartilagem é avascular e vulnerável.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6FB2"/>
                </a:solidFill>
                <a:latin typeface="Calibri"/>
              </a:rPr>
              <a:t>QUADRO CLÍNICO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Fatores de risco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08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83080"/>
            <a:ext cx="3520440" cy="37033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786384" y="1783080"/>
            <a:ext cx="3520440" cy="566928"/>
          </a:xfrm>
          <a:prstGeom prst="round2Same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801368"/>
            <a:ext cx="3520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Do hospedeiro</a:t>
            </a:r>
          </a:p>
        </p:txBody>
      </p:sp>
      <p:sp>
        <p:nvSpPr>
          <p:cNvPr id="11" name="Oval 10"/>
          <p:cNvSpPr/>
          <p:nvPr/>
        </p:nvSpPr>
        <p:spPr>
          <a:xfrm>
            <a:off x="1060704" y="2660903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256032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Idade &gt; 80 anos</a:t>
            </a:r>
          </a:p>
        </p:txBody>
      </p:sp>
      <p:sp>
        <p:nvSpPr>
          <p:cNvPr id="13" name="Oval 12"/>
          <p:cNvSpPr/>
          <p:nvPr/>
        </p:nvSpPr>
        <p:spPr>
          <a:xfrm>
            <a:off x="1060704" y="3374136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9304" y="3273552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Diabetes mellitus</a:t>
            </a:r>
          </a:p>
        </p:txBody>
      </p:sp>
      <p:sp>
        <p:nvSpPr>
          <p:cNvPr id="15" name="Oval 14"/>
          <p:cNvSpPr/>
          <p:nvPr/>
        </p:nvSpPr>
        <p:spPr>
          <a:xfrm>
            <a:off x="1060704" y="4087368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9304" y="3986784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Imunossupressão / corticoide</a:t>
            </a:r>
          </a:p>
        </p:txBody>
      </p:sp>
      <p:sp>
        <p:nvSpPr>
          <p:cNvPr id="17" name="Oval 16"/>
          <p:cNvSpPr/>
          <p:nvPr/>
        </p:nvSpPr>
        <p:spPr>
          <a:xfrm>
            <a:off x="1060704" y="4800600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9304" y="4700016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Doença hepática ou renal crônica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62856" y="1783080"/>
            <a:ext cx="3520440" cy="37033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4562856" y="1783080"/>
            <a:ext cx="3520440" cy="566928"/>
          </a:xfrm>
          <a:prstGeom prst="round2Same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1801368"/>
            <a:ext cx="3520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Articulares</a:t>
            </a:r>
          </a:p>
        </p:txBody>
      </p:sp>
      <p:sp>
        <p:nvSpPr>
          <p:cNvPr id="22" name="Oval 21"/>
          <p:cNvSpPr/>
          <p:nvPr/>
        </p:nvSpPr>
        <p:spPr>
          <a:xfrm>
            <a:off x="4837176" y="2660903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65776" y="256032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Artrite reumatoide</a:t>
            </a:r>
          </a:p>
        </p:txBody>
      </p:sp>
      <p:sp>
        <p:nvSpPr>
          <p:cNvPr id="24" name="Oval 23"/>
          <p:cNvSpPr/>
          <p:nvPr/>
        </p:nvSpPr>
        <p:spPr>
          <a:xfrm>
            <a:off x="4837176" y="3374136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65776" y="3273552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Osteoartrose avançada</a:t>
            </a:r>
          </a:p>
        </p:txBody>
      </p:sp>
      <p:sp>
        <p:nvSpPr>
          <p:cNvPr id="26" name="Oval 25"/>
          <p:cNvSpPr/>
          <p:nvPr/>
        </p:nvSpPr>
        <p:spPr>
          <a:xfrm>
            <a:off x="4837176" y="4087368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65776" y="3986784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Prótese articular</a:t>
            </a:r>
          </a:p>
        </p:txBody>
      </p:sp>
      <p:sp>
        <p:nvSpPr>
          <p:cNvPr id="28" name="Oval 27"/>
          <p:cNvSpPr/>
          <p:nvPr/>
        </p:nvSpPr>
        <p:spPr>
          <a:xfrm>
            <a:off x="4837176" y="4800600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65776" y="4700016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Artrocentese / infiltração prévia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39327" y="1783080"/>
            <a:ext cx="3520440" cy="37033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8339327" y="1783080"/>
            <a:ext cx="3520440" cy="566928"/>
          </a:xfrm>
          <a:prstGeom prst="round2SameRect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7" y="1801368"/>
            <a:ext cx="3520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Comportamentais / cutâneos</a:t>
            </a:r>
          </a:p>
        </p:txBody>
      </p:sp>
      <p:sp>
        <p:nvSpPr>
          <p:cNvPr id="33" name="Oval 32"/>
          <p:cNvSpPr/>
          <p:nvPr/>
        </p:nvSpPr>
        <p:spPr>
          <a:xfrm>
            <a:off x="8613648" y="2660903"/>
            <a:ext cx="100584" cy="100584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42248" y="256032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Uso de drogas injetáveis</a:t>
            </a:r>
          </a:p>
        </p:txBody>
      </p:sp>
      <p:sp>
        <p:nvSpPr>
          <p:cNvPr id="35" name="Oval 34"/>
          <p:cNvSpPr/>
          <p:nvPr/>
        </p:nvSpPr>
        <p:spPr>
          <a:xfrm>
            <a:off x="8613648" y="3374136"/>
            <a:ext cx="100584" cy="100584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42248" y="3273552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Bacteriemia / endocardite</a:t>
            </a:r>
          </a:p>
        </p:txBody>
      </p:sp>
      <p:sp>
        <p:nvSpPr>
          <p:cNvPr id="37" name="Oval 36"/>
          <p:cNvSpPr/>
          <p:nvPr/>
        </p:nvSpPr>
        <p:spPr>
          <a:xfrm>
            <a:off x="8613648" y="4087368"/>
            <a:ext cx="100584" cy="100584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42248" y="3986784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Úlceras e infecções de pele</a:t>
            </a:r>
          </a:p>
        </p:txBody>
      </p:sp>
      <p:sp>
        <p:nvSpPr>
          <p:cNvPr id="39" name="Oval 38"/>
          <p:cNvSpPr/>
          <p:nvPr/>
        </p:nvSpPr>
        <p:spPr>
          <a:xfrm>
            <a:off x="8613648" y="4800600"/>
            <a:ext cx="100584" cy="100584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42248" y="4700016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Cateteres e acessos vasculares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S. aureus tem tropismo aumentado por articulações reumatoides e protésicas.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6FB2"/>
                </a:solidFill>
                <a:latin typeface="Calibri"/>
              </a:rPr>
              <a:t>QUADRO CLÍNICO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Apresentação clínica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09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600200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64541"/>
                </a:solidFill>
                <a:latin typeface="Calibri"/>
              </a:rPr>
              <a:t>TRÍADE CLÁSSICA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1965960"/>
            <a:ext cx="502920" cy="502920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96596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12324F"/>
                </a:solidFill>
                <a:latin typeface="Calibri"/>
              </a:rPr>
              <a:t>Dor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intensa, ao repouso e à mobilização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2743200"/>
            <a:ext cx="502920" cy="502920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74320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12324F"/>
                </a:solidFill>
                <a:latin typeface="Calibri"/>
              </a:rPr>
              <a:t>Edema / derrame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articulação quente e distendida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3520440"/>
            <a:ext cx="502920" cy="502920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52044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12324F"/>
                </a:solidFill>
                <a:latin typeface="Calibri"/>
              </a:rPr>
              <a:t>Impotência funcional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recusa ativa e passiva ao movimento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526280"/>
            <a:ext cx="5852160" cy="1051560"/>
          </a:xfrm>
          <a:prstGeom prst="roundRect">
            <a:avLst>
              <a:gd name="adj" fmla="val 6000"/>
            </a:avLst>
          </a:prstGeom>
          <a:solidFill>
            <a:srgbClr val="FC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645152"/>
            <a:ext cx="548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E1A140"/>
                </a:solidFill>
                <a:latin typeface="Calibri"/>
              </a:rPr>
              <a:t>⚠  ATENÇÃO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Idosos, imunossuprimidos e portadores de prótese podem cursar sem febre. Monoartrite aguda = artrite séptica até prova em contrário.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783080"/>
            <a:ext cx="4572000" cy="379476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19659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B2"/>
                </a:solidFill>
                <a:latin typeface="Calibri"/>
              </a:rPr>
              <a:t>SINAIS SISTÊMICOS E PADRÃO</a:t>
            </a:r>
          </a:p>
        </p:txBody>
      </p:sp>
      <p:sp>
        <p:nvSpPr>
          <p:cNvPr id="19" name="Oval 18"/>
          <p:cNvSpPr/>
          <p:nvPr/>
        </p:nvSpPr>
        <p:spPr>
          <a:xfrm>
            <a:off x="7242048" y="2505456"/>
            <a:ext cx="91440" cy="9144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242316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Febre (≈ 60%) e calafrios</a:t>
            </a:r>
          </a:p>
        </p:txBody>
      </p:sp>
      <p:sp>
        <p:nvSpPr>
          <p:cNvPr id="21" name="Oval 20"/>
          <p:cNvSpPr/>
          <p:nvPr/>
        </p:nvSpPr>
        <p:spPr>
          <a:xfrm>
            <a:off x="7242048" y="3127248"/>
            <a:ext cx="91440" cy="9144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304495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Mal-estar e taquicardia</a:t>
            </a:r>
          </a:p>
        </p:txBody>
      </p:sp>
      <p:sp>
        <p:nvSpPr>
          <p:cNvPr id="23" name="Oval 22"/>
          <p:cNvSpPr/>
          <p:nvPr/>
        </p:nvSpPr>
        <p:spPr>
          <a:xfrm>
            <a:off x="7242048" y="3749039"/>
            <a:ext cx="91440" cy="9144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9792" y="3666744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Monoartrite em &gt; 80% dos casos</a:t>
            </a:r>
          </a:p>
        </p:txBody>
      </p:sp>
      <p:sp>
        <p:nvSpPr>
          <p:cNvPr id="25" name="Oval 24"/>
          <p:cNvSpPr/>
          <p:nvPr/>
        </p:nvSpPr>
        <p:spPr>
          <a:xfrm>
            <a:off x="7242048" y="4370831"/>
            <a:ext cx="91440" cy="9144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9792" y="4288536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Joelho e quadril são os mais afetados</a:t>
            </a:r>
          </a:p>
        </p:txBody>
      </p:sp>
      <p:sp>
        <p:nvSpPr>
          <p:cNvPr id="27" name="Oval 26"/>
          <p:cNvSpPr/>
          <p:nvPr/>
        </p:nvSpPr>
        <p:spPr>
          <a:xfrm>
            <a:off x="7242048" y="4992623"/>
            <a:ext cx="91440" cy="9144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9792" y="4910327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Poliarticular: pior prognóstico e maior letalidade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A ausência de febre não exclui o diagnóstico.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6FB2"/>
                </a:solidFill>
                <a:latin typeface="Calibri"/>
              </a:rPr>
              <a:t>QUADRO CLÍNICO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Articulações mais acometidas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10 / 30</a:t>
            </a:r>
          </a:p>
        </p:txBody>
      </p:sp>
      <p:pic>
        <p:nvPicPr>
          <p:cNvPr id="8" name="Picture 7" descr="articula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19"/>
            <a:ext cx="6766560" cy="39264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" y="1600200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55A6B"/>
                </a:solidFill>
                <a:latin typeface="Calibri"/>
              </a:rPr>
              <a:t>Distribuição em adultos (articulação nativa)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828800"/>
            <a:ext cx="3794760" cy="356616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011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B2"/>
                </a:solidFill>
                <a:latin typeface="Calibri"/>
              </a:rPr>
              <a:t>PONTOS PRÁTICOS</a:t>
            </a:r>
          </a:p>
        </p:txBody>
      </p:sp>
      <p:sp>
        <p:nvSpPr>
          <p:cNvPr id="12" name="Oval 11"/>
          <p:cNvSpPr/>
          <p:nvPr/>
        </p:nvSpPr>
        <p:spPr>
          <a:xfrm>
            <a:off x="8065008" y="2551176"/>
            <a:ext cx="91440" cy="9144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Joelho é a articulação mais acometida no adulto</a:t>
            </a:r>
          </a:p>
        </p:txBody>
      </p:sp>
      <p:sp>
        <p:nvSpPr>
          <p:cNvPr id="14" name="Oval 13"/>
          <p:cNvSpPr/>
          <p:nvPr/>
        </p:nvSpPr>
        <p:spPr>
          <a:xfrm>
            <a:off x="8065008" y="3282696"/>
            <a:ext cx="91440" cy="9144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32004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Quadril predomina em lactentes e crianças pequenas</a:t>
            </a:r>
          </a:p>
        </p:txBody>
      </p:sp>
      <p:sp>
        <p:nvSpPr>
          <p:cNvPr id="16" name="Oval 15"/>
          <p:cNvSpPr/>
          <p:nvPr/>
        </p:nvSpPr>
        <p:spPr>
          <a:xfrm>
            <a:off x="8065008" y="4014215"/>
            <a:ext cx="91440" cy="9144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9319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Esterno-clavicular e sacroilíaca: pensar em UDIV</a:t>
            </a:r>
          </a:p>
        </p:txBody>
      </p:sp>
      <p:sp>
        <p:nvSpPr>
          <p:cNvPr id="18" name="Oval 17"/>
          <p:cNvSpPr/>
          <p:nvPr/>
        </p:nvSpPr>
        <p:spPr>
          <a:xfrm>
            <a:off x="8065008" y="4745736"/>
            <a:ext cx="91440" cy="9144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466344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Acometimento axial é raro e sugere agentes específicos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UDIV: usuário de drogas injetáveis. Localizações atípicas exigem alta suspeição.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9AA7"/>
                </a:solidFill>
                <a:latin typeface="Calibri"/>
              </a:rPr>
              <a:t>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Abordagem diagnóstica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11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148840"/>
            <a:ext cx="2084831" cy="228600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27048" y="2377440"/>
            <a:ext cx="603504" cy="60350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108960"/>
            <a:ext cx="181051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2324F"/>
                </a:solidFill>
                <a:latin typeface="Calibri"/>
              </a:rPr>
              <a:t>Suspeição clínica</a:t>
            </a:r>
          </a:p>
          <a:p>
            <a:pPr algn="ctr"/>
            <a:r>
              <a:rPr sz="1050" b="0" i="0">
                <a:solidFill>
                  <a:srgbClr val="455A6B"/>
                </a:solidFill>
                <a:latin typeface="Calibri"/>
              </a:rPr>
              <a:t>Monoartrite aguda + fatores de risco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75787" y="2679192"/>
            <a:ext cx="123445" cy="0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99232" y="2148840"/>
            <a:ext cx="2084831" cy="228600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39896" y="2377440"/>
            <a:ext cx="603504" cy="60350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1" y="3108960"/>
            <a:ext cx="181051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2324F"/>
                </a:solidFill>
                <a:latin typeface="Calibri"/>
              </a:rPr>
              <a:t>Artrocentese</a:t>
            </a:r>
          </a:p>
          <a:p>
            <a:pPr algn="ctr"/>
            <a:r>
              <a:rPr sz="1050" b="0" i="0">
                <a:solidFill>
                  <a:srgbClr val="455A6B"/>
                </a:solidFill>
                <a:latin typeface="Calibri"/>
              </a:rPr>
              <a:t>ANTES do antibiótico, sempre que possível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88636" y="2679192"/>
            <a:ext cx="123443" cy="0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12080" y="2148840"/>
            <a:ext cx="2084831" cy="228600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52744" y="2377440"/>
            <a:ext cx="603504" cy="60350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108960"/>
            <a:ext cx="181051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2324F"/>
                </a:solidFill>
                <a:latin typeface="Calibri"/>
              </a:rPr>
              <a:t>Líquido sinovial</a:t>
            </a:r>
          </a:p>
          <a:p>
            <a:pPr algn="ctr"/>
            <a:r>
              <a:rPr sz="1050" b="0" i="0">
                <a:solidFill>
                  <a:srgbClr val="455A6B"/>
                </a:solidFill>
                <a:latin typeface="Calibri"/>
              </a:rPr>
              <a:t>Celularidade, Gram, cultura, cristais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01484" y="2679192"/>
            <a:ext cx="123444" cy="0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24927" y="2148840"/>
            <a:ext cx="2084831" cy="228600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65592" y="2377440"/>
            <a:ext cx="603504" cy="603504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3108960"/>
            <a:ext cx="181051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2324F"/>
                </a:solidFill>
                <a:latin typeface="Calibri"/>
              </a:rPr>
              <a:t>Hemoculturas e exames</a:t>
            </a:r>
          </a:p>
          <a:p>
            <a:pPr algn="ctr"/>
            <a:r>
              <a:rPr sz="1050" b="0" i="0">
                <a:solidFill>
                  <a:srgbClr val="455A6B"/>
                </a:solidFill>
                <a:latin typeface="Calibri"/>
              </a:rPr>
              <a:t>PCR, VHS, hemograma, 2 hemoculturas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14332" y="2679192"/>
            <a:ext cx="123444" cy="0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37776" y="2148840"/>
            <a:ext cx="2084831" cy="228600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78440" y="2377440"/>
            <a:ext cx="603504" cy="60350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4936" y="3108960"/>
            <a:ext cx="181051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2324F"/>
                </a:solidFill>
                <a:latin typeface="Calibri"/>
              </a:rPr>
              <a:t>Imagem</a:t>
            </a:r>
          </a:p>
          <a:p>
            <a:pPr algn="ctr"/>
            <a:r>
              <a:rPr sz="1050" b="0" i="0">
                <a:solidFill>
                  <a:srgbClr val="455A6B"/>
                </a:solidFill>
                <a:latin typeface="Calibri"/>
              </a:rPr>
              <a:t>US, radiografia; RM/TC conforme sítio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" y="4892040"/>
            <a:ext cx="10744200" cy="777240"/>
          </a:xfrm>
          <a:prstGeom prst="roundRect">
            <a:avLst>
              <a:gd name="adj" fmla="val 8000"/>
            </a:avLst>
          </a:prstGeom>
          <a:solidFill>
            <a:srgbClr val="FA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010912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64541"/>
                </a:solidFill>
                <a:latin typeface="Calibri"/>
              </a:rPr>
              <a:t>Regra de ouro:  </a:t>
            </a:r>
            <a:r>
              <a:rPr sz="1250" b="0" i="0">
                <a:solidFill>
                  <a:srgbClr val="455A6B"/>
                </a:solidFill>
                <a:latin typeface="Calibri"/>
              </a:rPr>
              <a:t>toda monoartrite aguda deve ser puncionada. O antibiótico não deve atrasar a artrocentese diagnóstica.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9AA7"/>
                </a:solidFill>
                <a:latin typeface="Calibri"/>
              </a:rPr>
              <a:t>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Marcadores séricos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12 / 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1828800"/>
          <a:ext cx="685800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2743200"/>
                <a:gridCol w="25603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Marcador</a:t>
                      </a:r>
                    </a:p>
                  </a:txBody>
                  <a:tcPr marL="76200" marR="76200" marT="25400" marB="25400" anchor="ctr">
                    <a:solidFill>
                      <a:srgbClr val="12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Comportamento</a:t>
                      </a:r>
                    </a:p>
                  </a:txBody>
                  <a:tcPr marL="76200" marR="76200" marT="25400" marB="25400" anchor="ctr">
                    <a:solidFill>
                      <a:srgbClr val="12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Utilidade clínica</a:t>
                      </a:r>
                    </a:p>
                  </a:txBody>
                  <a:tcPr marL="76200" marR="76200" marT="25400" marB="25400" anchor="ctr">
                    <a:solidFill>
                      <a:srgbClr val="12324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2324F"/>
                          </a:solidFill>
                          <a:latin typeface="Calibri"/>
                        </a:rPr>
                        <a:t>Leucograma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Frequentemente ↑, mas pode ser normal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Baixa especificidade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2324F"/>
                          </a:solidFill>
                          <a:latin typeface="Calibri"/>
                        </a:rPr>
                        <a:t>VHS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Elevada (&gt; 30 mm/h)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Sensível; útil no seguimento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2324F"/>
                          </a:solidFill>
                          <a:latin typeface="Calibri"/>
                        </a:rPr>
                        <a:t>PCR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Elevada; queda indica resposta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Melhor para monitorar tratamento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2324F"/>
                          </a:solidFill>
                          <a:latin typeface="Calibri"/>
                        </a:rPr>
                        <a:t>Procalcitonina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Pode auxiliar se sepse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Especificidade moderada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2324F"/>
                          </a:solidFill>
                          <a:latin typeface="Calibri"/>
                        </a:rPr>
                        <a:t>Hemoculturas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Positivas em até 50%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Colher 2 pares antes do ATB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955279" y="1828800"/>
            <a:ext cx="3566160" cy="3566160"/>
          </a:xfrm>
          <a:prstGeom prst="roundRect">
            <a:avLst>
              <a:gd name="adj" fmla="val 5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574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B2"/>
                </a:solidFill>
                <a:latin typeface="Calibri"/>
              </a:rPr>
              <a:t>MENSAGEM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514600"/>
            <a:ext cx="3063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12324F"/>
                </a:solidFill>
                <a:latin typeface="Calibri"/>
              </a:rPr>
              <a:t>Nenhum marcador sérico confirma ou exclui isoladamente a artrite séptica.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455A6B"/>
                </a:solidFill>
                <a:latin typeface="Calibri"/>
              </a:rPr>
              <a:t>VHS e PCR normais reduzem a probabilidade, mas a decisão depende do líquido sinovial.</a:t>
            </a:r>
          </a:p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PCR seriada é o melhor parâmetro para acompanhar a resposta terapêutica.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Carpenter CR et al. Acad Emerg Med 2011 (evidência sobre marcadores).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64541"/>
                </a:solidFill>
                <a:latin typeface="Calibri"/>
              </a:rPr>
              <a:t>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Artrocentese e líquido sinovial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13 / 30</a:t>
            </a:r>
          </a:p>
        </p:txBody>
      </p:sp>
      <p:pic>
        <p:nvPicPr>
          <p:cNvPr id="8" name="Picture 7" descr="liquido_sinov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943600" cy="29766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" y="157276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55A6B"/>
                </a:solidFill>
                <a:latin typeface="Calibri"/>
              </a:rPr>
              <a:t>Leucócitos por categoria de líquido articular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69480" y="1874519"/>
          <a:ext cx="429768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26060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Parâmetro</a:t>
                      </a:r>
                    </a:p>
                  </a:txBody>
                  <a:tcPr marL="76200" marR="76200" marT="25400" marB="25400" anchor="ctr">
                    <a:solidFill>
                      <a:srgbClr val="12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Sugestivo de artrite séptica</a:t>
                      </a:r>
                    </a:p>
                  </a:txBody>
                  <a:tcPr marL="76200" marR="76200" marT="25400" marB="25400" anchor="ctr">
                    <a:solidFill>
                      <a:srgbClr val="12324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2324F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55A6B"/>
                          </a:solidFill>
                          <a:latin typeface="Calibri"/>
                        </a:rPr>
                        <a:t>Turvo / purulento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2324F"/>
                          </a:solidFill>
                          <a:latin typeface="Calibri"/>
                        </a:rPr>
                        <a:t>Leucócitos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55A6B"/>
                          </a:solidFill>
                          <a:latin typeface="Calibri"/>
                        </a:rPr>
                        <a:t>&gt; 50.000/mm³ (frequente &gt; 100.000)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2324F"/>
                          </a:solidFill>
                          <a:latin typeface="Calibri"/>
                        </a:rPr>
                        <a:t>Polimorfonucleares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55A6B"/>
                          </a:solidFill>
                          <a:latin typeface="Calibri"/>
                        </a:rPr>
                        <a:t>&gt; 75–90%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2324F"/>
                          </a:solidFill>
                          <a:latin typeface="Calibri"/>
                        </a:rPr>
                        <a:t>Gram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55A6B"/>
                          </a:solidFill>
                          <a:latin typeface="Calibri"/>
                        </a:rPr>
                        <a:t>Positivo em 30–50%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2324F"/>
                          </a:solidFill>
                          <a:latin typeface="Calibri"/>
                        </a:rPr>
                        <a:t>Cultura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55A6B"/>
                          </a:solidFill>
                          <a:latin typeface="Calibri"/>
                        </a:rPr>
                        <a:t>Padrão-ouro (positiva 60–90%)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2324F"/>
                          </a:solidFill>
                          <a:latin typeface="Calibri"/>
                        </a:rPr>
                        <a:t>Cristais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55A6B"/>
                          </a:solidFill>
                          <a:latin typeface="Calibri"/>
                        </a:rPr>
                        <a:t>Não excluem infecção concomitante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269480" y="513892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64541"/>
                </a:solidFill>
                <a:latin typeface="Calibri"/>
              </a:rPr>
              <a:t>RAZÃO DE VEROSSIMILHANÇA (leucócitos)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5413248"/>
            <a:ext cx="1325880" cy="566928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5477256"/>
            <a:ext cx="1325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2324F"/>
                </a:solidFill>
                <a:latin typeface="Calibri"/>
              </a:rPr>
              <a:t>LR 7,7</a:t>
            </a:r>
          </a:p>
          <a:p>
            <a:pPr algn="ctr"/>
            <a:r>
              <a:rPr sz="850" b="0" i="0">
                <a:solidFill>
                  <a:srgbClr val="8A9BA8"/>
                </a:solidFill>
                <a:latin typeface="Calibri"/>
              </a:rPr>
              <a:t>&gt;50.000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5413248"/>
            <a:ext cx="1325880" cy="566928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5477256"/>
            <a:ext cx="1325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2324F"/>
                </a:solidFill>
                <a:latin typeface="Calibri"/>
              </a:rPr>
              <a:t>LR 28</a:t>
            </a:r>
          </a:p>
          <a:p>
            <a:pPr algn="ctr"/>
            <a:r>
              <a:rPr sz="850" b="0" i="0">
                <a:solidFill>
                  <a:srgbClr val="8A9BA8"/>
                </a:solidFill>
                <a:latin typeface="Calibri"/>
              </a:rPr>
              <a:t>&gt;100.000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95560" y="5413248"/>
            <a:ext cx="1325880" cy="566928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95560" y="5477256"/>
            <a:ext cx="1325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2324F"/>
                </a:solidFill>
                <a:latin typeface="Calibri"/>
              </a:rPr>
              <a:t>LR 3,4</a:t>
            </a:r>
          </a:p>
          <a:p>
            <a:pPr algn="ctr"/>
            <a:r>
              <a:rPr sz="850" b="0" i="0">
                <a:solidFill>
                  <a:srgbClr val="8A9BA8"/>
                </a:solidFill>
                <a:latin typeface="Calibri"/>
              </a:rPr>
              <a:t>PMN &gt;90%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864608"/>
            <a:ext cx="5943600" cy="987552"/>
          </a:xfrm>
          <a:prstGeom prst="roundRect">
            <a:avLst>
              <a:gd name="adj" fmla="val 6000"/>
            </a:avLst>
          </a:prstGeom>
          <a:solidFill>
            <a:srgbClr val="FA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956048"/>
            <a:ext cx="5577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D64541"/>
                </a:solidFill>
                <a:latin typeface="Calibri"/>
              </a:rPr>
              <a:t>Nenhum ponto de corte é absoluto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Contagens &lt; 50.000 não excluem infecção, sobretudo em imunossuprimidos e próteses. Sempre enviar cultura.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Margaretten ME et al. Does this adult patient have septic arthritis? JAMA 2007;297:1478–88.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9AA7"/>
                </a:solidFill>
                <a:latin typeface="Calibri"/>
              </a:rPr>
              <a:t>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Métodos de imagem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14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83080"/>
            <a:ext cx="3520440" cy="37033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786384" y="1783080"/>
            <a:ext cx="3520440" cy="566928"/>
          </a:xfrm>
          <a:prstGeom prst="round2Same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801368"/>
            <a:ext cx="3520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Radiografia</a:t>
            </a:r>
          </a:p>
        </p:txBody>
      </p:sp>
      <p:sp>
        <p:nvSpPr>
          <p:cNvPr id="11" name="Oval 10"/>
          <p:cNvSpPr/>
          <p:nvPr/>
        </p:nvSpPr>
        <p:spPr>
          <a:xfrm>
            <a:off x="1060704" y="2697480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26060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Normal no início</a:t>
            </a:r>
          </a:p>
        </p:txBody>
      </p:sp>
      <p:sp>
        <p:nvSpPr>
          <p:cNvPr id="13" name="Oval 12"/>
          <p:cNvSpPr/>
          <p:nvPr/>
        </p:nvSpPr>
        <p:spPr>
          <a:xfrm>
            <a:off x="1060704" y="3410712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9304" y="331927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Aumento de partes moles</a:t>
            </a:r>
          </a:p>
        </p:txBody>
      </p:sp>
      <p:sp>
        <p:nvSpPr>
          <p:cNvPr id="15" name="Oval 14"/>
          <p:cNvSpPr/>
          <p:nvPr/>
        </p:nvSpPr>
        <p:spPr>
          <a:xfrm>
            <a:off x="1060704" y="4123944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9304" y="403250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Tardio: redução do espaço, erosões</a:t>
            </a:r>
          </a:p>
        </p:txBody>
      </p:sp>
      <p:sp>
        <p:nvSpPr>
          <p:cNvPr id="17" name="Oval 16"/>
          <p:cNvSpPr/>
          <p:nvPr/>
        </p:nvSpPr>
        <p:spPr>
          <a:xfrm>
            <a:off x="1060704" y="4837176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9304" y="474573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Exclui outras causas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62856" y="1783080"/>
            <a:ext cx="3520440" cy="37033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4562856" y="1783080"/>
            <a:ext cx="3520440" cy="566928"/>
          </a:xfrm>
          <a:prstGeom prst="round2Same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1801368"/>
            <a:ext cx="3520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Ultrassonografia</a:t>
            </a:r>
          </a:p>
        </p:txBody>
      </p:sp>
      <p:sp>
        <p:nvSpPr>
          <p:cNvPr id="22" name="Oval 21"/>
          <p:cNvSpPr/>
          <p:nvPr/>
        </p:nvSpPr>
        <p:spPr>
          <a:xfrm>
            <a:off x="4837176" y="2697480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65776" y="26060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Detecta derrame precoce</a:t>
            </a:r>
          </a:p>
        </p:txBody>
      </p:sp>
      <p:sp>
        <p:nvSpPr>
          <p:cNvPr id="24" name="Oval 23"/>
          <p:cNvSpPr/>
          <p:nvPr/>
        </p:nvSpPr>
        <p:spPr>
          <a:xfrm>
            <a:off x="4837176" y="3410712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65776" y="331927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Guia a artrocentese</a:t>
            </a:r>
          </a:p>
        </p:txBody>
      </p:sp>
      <p:sp>
        <p:nvSpPr>
          <p:cNvPr id="26" name="Oval 25"/>
          <p:cNvSpPr/>
          <p:nvPr/>
        </p:nvSpPr>
        <p:spPr>
          <a:xfrm>
            <a:off x="4837176" y="4123944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65776" y="403250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Sem radiação, à beira-leito</a:t>
            </a:r>
          </a:p>
        </p:txBody>
      </p:sp>
      <p:sp>
        <p:nvSpPr>
          <p:cNvPr id="28" name="Oval 27"/>
          <p:cNvSpPr/>
          <p:nvPr/>
        </p:nvSpPr>
        <p:spPr>
          <a:xfrm>
            <a:off x="4837176" y="4837176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65776" y="474573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Método inicial de escolha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39327" y="1783080"/>
            <a:ext cx="3520440" cy="37033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8339327" y="1783080"/>
            <a:ext cx="3520440" cy="566928"/>
          </a:xfrm>
          <a:prstGeom prst="round2SameRect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7" y="1801368"/>
            <a:ext cx="3520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Ressonância / TC</a:t>
            </a:r>
          </a:p>
        </p:txBody>
      </p:sp>
      <p:sp>
        <p:nvSpPr>
          <p:cNvPr id="33" name="Oval 32"/>
          <p:cNvSpPr/>
          <p:nvPr/>
        </p:nvSpPr>
        <p:spPr>
          <a:xfrm>
            <a:off x="8613648" y="2697480"/>
            <a:ext cx="100584" cy="100584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42248" y="26060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Alta sensibilidade para derrame</a:t>
            </a:r>
          </a:p>
        </p:txBody>
      </p:sp>
      <p:sp>
        <p:nvSpPr>
          <p:cNvPr id="35" name="Oval 34"/>
          <p:cNvSpPr/>
          <p:nvPr/>
        </p:nvSpPr>
        <p:spPr>
          <a:xfrm>
            <a:off x="8613648" y="3410712"/>
            <a:ext cx="100584" cy="100584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42248" y="331927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Avalia osteomielite associada</a:t>
            </a:r>
          </a:p>
        </p:txBody>
      </p:sp>
      <p:sp>
        <p:nvSpPr>
          <p:cNvPr id="37" name="Oval 36"/>
          <p:cNvSpPr/>
          <p:nvPr/>
        </p:nvSpPr>
        <p:spPr>
          <a:xfrm>
            <a:off x="8613648" y="4123944"/>
            <a:ext cx="100584" cy="100584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42248" y="403250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Abscessos e articulações profundas</a:t>
            </a:r>
          </a:p>
        </p:txBody>
      </p:sp>
      <p:sp>
        <p:nvSpPr>
          <p:cNvPr id="39" name="Oval 38"/>
          <p:cNvSpPr/>
          <p:nvPr/>
        </p:nvSpPr>
        <p:spPr>
          <a:xfrm>
            <a:off x="8613648" y="4837176"/>
            <a:ext cx="100584" cy="100584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42248" y="474573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Sacroilíaca, quadril, ombro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A imagem apoia, mas nunca substitui a análise do líquido sinovial.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6FB2"/>
                </a:solidFill>
                <a:latin typeface="Calibri"/>
              </a:rPr>
              <a:t>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Algoritmo diagnóstico — adulto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15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200400" cy="603504"/>
          </a:xfrm>
          <a:prstGeom prst="roundRect">
            <a:avLst>
              <a:gd name="adj" fmla="val 12000"/>
            </a:avLst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Monoartrite aguda / suspeita clínica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39696"/>
            <a:ext cx="3200400" cy="603504"/>
          </a:xfrm>
          <a:prstGeom prst="roundRect">
            <a:avLst>
              <a:gd name="adj" fmla="val 12000"/>
            </a:avLst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Artrocentese (antes do ATB)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1975104"/>
            <a:ext cx="0" cy="164592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80560" y="2907792"/>
            <a:ext cx="3200400" cy="603504"/>
          </a:xfrm>
          <a:prstGeom prst="roundRect">
            <a:avLst>
              <a:gd name="adj" fmla="val 1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Análise do líquido sinovial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743200"/>
            <a:ext cx="0" cy="164592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51560" y="3977639"/>
            <a:ext cx="3291840" cy="896112"/>
          </a:xfrm>
          <a:prstGeom prst="roundRect">
            <a:avLst>
              <a:gd name="adj" fmla="val 12000"/>
            </a:avLst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Purulento · Leucócitos &gt; 50.000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PMN &gt; 90% · Gram/cultura 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977639"/>
            <a:ext cx="3291840" cy="896112"/>
          </a:xfrm>
          <a:prstGeom prst="roundRect">
            <a:avLst>
              <a:gd name="adj" fmla="val 12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Baixa celularidade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Gram negativo, cristais +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697480" y="3511296"/>
            <a:ext cx="2514600" cy="466343"/>
          </a:xfrm>
          <a:prstGeom prst="line">
            <a:avLst/>
          </a:prstGeom>
          <a:ln w="20320">
            <a:solidFill>
              <a:srgbClr val="D645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49440" y="3511296"/>
            <a:ext cx="2514600" cy="466343"/>
          </a:xfrm>
          <a:prstGeom prst="line">
            <a:avLst/>
          </a:prstGeom>
          <a:ln w="2032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43200" y="3675887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D64541"/>
                </a:solidFill>
                <a:latin typeface="Calibri"/>
              </a:rPr>
              <a:t>compatível com séptica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675887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E9E6B"/>
                </a:solidFill>
                <a:latin typeface="Calibri"/>
              </a:rPr>
              <a:t>outra hipótese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5074920"/>
            <a:ext cx="3291840" cy="749808"/>
          </a:xfrm>
          <a:prstGeom prst="roundRect">
            <a:avLst>
              <a:gd name="adj" fmla="val 12000"/>
            </a:avLst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Iniciar ATB empírico +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drenagem articular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97480" y="4873752"/>
            <a:ext cx="0" cy="201168"/>
          </a:xfrm>
          <a:prstGeom prst="line">
            <a:avLst/>
          </a:prstGeom>
          <a:ln w="20320">
            <a:solidFill>
              <a:srgbClr val="D645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18120" y="5074920"/>
            <a:ext cx="3291840" cy="749808"/>
          </a:xfrm>
          <a:prstGeom prst="roundRect">
            <a:avLst>
              <a:gd name="adj" fmla="val 12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Investigar gota, AR,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reativa; reavaliar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64040" y="4873752"/>
            <a:ext cx="0" cy="201168"/>
          </a:xfrm>
          <a:prstGeom prst="line">
            <a:avLst/>
          </a:prstGeom>
          <a:ln w="2032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Se alta suspeita clínica, tratar mesmo com Gram negativo, aguardando cultura.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1A140"/>
                </a:solidFill>
                <a:latin typeface="Calibri"/>
              </a:rPr>
              <a:t>PEDIATRIA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Artrite séptica na criança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16 / 30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828800"/>
            <a:ext cx="109728" cy="822960"/>
          </a:xfrm>
          <a:prstGeom prst="rect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2324F"/>
                </a:solidFill>
                <a:latin typeface="Calibri"/>
              </a:rPr>
              <a:t>Epidemiologia</a:t>
            </a:r>
          </a:p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Mais comum &lt; 3 anos; quadril e joelho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880359"/>
            <a:ext cx="109728" cy="822960"/>
          </a:xfrm>
          <a:prstGeom prst="rect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834639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2324F"/>
                </a:solidFill>
                <a:latin typeface="Calibri"/>
              </a:rPr>
              <a:t>Agentes</a:t>
            </a:r>
          </a:p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S. aureus; Kingella kingae em lactentes; considerar S. do grupo B no neonato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3931920"/>
            <a:ext cx="109728" cy="822960"/>
          </a:xfrm>
          <a:prstGeom prst="rect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886200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2324F"/>
                </a:solidFill>
                <a:latin typeface="Calibri"/>
              </a:rPr>
              <a:t>Quadril</a:t>
            </a:r>
          </a:p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Emergência: risco de necrose avascular e luxação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5029200"/>
            <a:ext cx="5486400" cy="822960"/>
          </a:xfrm>
          <a:prstGeom prst="roundRect">
            <a:avLst>
              <a:gd name="adj" fmla="val 7000"/>
            </a:avLst>
          </a:prstGeom>
          <a:solidFill>
            <a:srgbClr val="FA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5120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55A6B"/>
                </a:solidFill>
                <a:latin typeface="Calibri"/>
              </a:rPr>
              <a:t>Diferenciar de sinovite transitória do quadril — principal diagnóstico diferencial.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1783080"/>
            <a:ext cx="4800600" cy="406908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3448" y="19659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1A140"/>
                </a:solidFill>
                <a:latin typeface="Calibri"/>
              </a:rPr>
              <a:t>SINAIS NA CRIANÇA</a:t>
            </a:r>
          </a:p>
        </p:txBody>
      </p:sp>
      <p:sp>
        <p:nvSpPr>
          <p:cNvPr id="18" name="Oval 17"/>
          <p:cNvSpPr/>
          <p:nvPr/>
        </p:nvSpPr>
        <p:spPr>
          <a:xfrm>
            <a:off x="7031736" y="2505456"/>
            <a:ext cx="100584" cy="100584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79" y="242316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455A6B"/>
                </a:solidFill>
                <a:latin typeface="Calibri"/>
              </a:rPr>
              <a:t>Recusa a apoiar / claudicação</a:t>
            </a:r>
          </a:p>
        </p:txBody>
      </p:sp>
      <p:sp>
        <p:nvSpPr>
          <p:cNvPr id="20" name="Oval 19"/>
          <p:cNvSpPr/>
          <p:nvPr/>
        </p:nvSpPr>
        <p:spPr>
          <a:xfrm>
            <a:off x="7031736" y="3163824"/>
            <a:ext cx="100584" cy="100584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79" y="3081528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455A6B"/>
                </a:solidFill>
                <a:latin typeface="Calibri"/>
              </a:rPr>
              <a:t>Pseudoparalisia do membro</a:t>
            </a:r>
          </a:p>
        </p:txBody>
      </p:sp>
      <p:sp>
        <p:nvSpPr>
          <p:cNvPr id="22" name="Oval 21"/>
          <p:cNvSpPr/>
          <p:nvPr/>
        </p:nvSpPr>
        <p:spPr>
          <a:xfrm>
            <a:off x="7031736" y="3822191"/>
            <a:ext cx="100584" cy="100584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79" y="3739896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455A6B"/>
                </a:solidFill>
                <a:latin typeface="Calibri"/>
              </a:rPr>
              <a:t>Postura antálgica (quadril em flexão e rotação externa)</a:t>
            </a:r>
          </a:p>
        </p:txBody>
      </p:sp>
      <p:sp>
        <p:nvSpPr>
          <p:cNvPr id="24" name="Oval 23"/>
          <p:cNvSpPr/>
          <p:nvPr/>
        </p:nvSpPr>
        <p:spPr>
          <a:xfrm>
            <a:off x="7031736" y="4480559"/>
            <a:ext cx="100584" cy="100584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79" y="4398264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455A6B"/>
                </a:solidFill>
                <a:latin typeface="Calibri"/>
              </a:rPr>
              <a:t>Irritabilidade e febre</a:t>
            </a:r>
          </a:p>
        </p:txBody>
      </p:sp>
      <p:sp>
        <p:nvSpPr>
          <p:cNvPr id="26" name="Oval 25"/>
          <p:cNvSpPr/>
          <p:nvPr/>
        </p:nvSpPr>
        <p:spPr>
          <a:xfrm>
            <a:off x="7031736" y="5138927"/>
            <a:ext cx="100584" cy="100584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79" y="5056631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455A6B"/>
                </a:solidFill>
                <a:latin typeface="Calibri"/>
              </a:rPr>
              <a:t>Dor à mobilização passiva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Kingella kingae exige meios de cultura específicos (frascos de hemocultura / PCR).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1A140"/>
                </a:solidFill>
                <a:latin typeface="Calibri"/>
              </a:rPr>
              <a:t>PEDIATRIA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Critérios de Kocher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17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57276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55A6B"/>
                </a:solidFill>
                <a:latin typeface="Calibri"/>
              </a:rPr>
              <a:t>Diferenciam artrite séptica × sinovite transitória do quadril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011680"/>
            <a:ext cx="457200" cy="457200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1168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2324F"/>
                </a:solidFill>
                <a:latin typeface="Calibri"/>
              </a:rPr>
              <a:t>Febre &gt; 38,5 °C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2670048"/>
            <a:ext cx="457200" cy="457200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670048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2324F"/>
                </a:solidFill>
                <a:latin typeface="Calibri"/>
              </a:rPr>
              <a:t>Recusa a apoiar o membro (não deambula)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3328415"/>
            <a:ext cx="457200" cy="457200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328415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2324F"/>
                </a:solidFill>
                <a:latin typeface="Calibri"/>
              </a:rPr>
              <a:t>VHS &gt; 40 mm/h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3986783"/>
            <a:ext cx="457200" cy="457200"/>
          </a:xfrm>
          <a:prstGeom prst="ellipse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986783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2324F"/>
                </a:solidFill>
                <a:latin typeface="Calibri"/>
              </a:rPr>
              <a:t>Leucócitos séricos &gt; 12.000/mm³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475488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55464"/>
            <a:ext cx="5120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2324F"/>
                </a:solidFill>
                <a:latin typeface="Calibri"/>
              </a:rPr>
              <a:t>Caird (2006): acrescenta PCR &gt; 20 mg/L (modelo de 5 fatores).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3 fatores ≈ 83%  ·  4 ≈ 93%  ·  5 ≈ 98% de probabilidade.</a:t>
            </a:r>
          </a:p>
        </p:txBody>
      </p:sp>
      <p:pic>
        <p:nvPicPr>
          <p:cNvPr id="19" name="Picture 18" descr="ko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5029200" cy="29839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75120" y="5532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9BA8"/>
                </a:solidFill>
                <a:latin typeface="Calibri"/>
              </a:rPr>
              <a:t>Probabilidade de artrite séptica por nº de critérios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605332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Kocher MS et al. J Bone Joint Surg Am 1999. · Caird MS et al. JBJS Am 2006.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1A140"/>
                </a:solidFill>
                <a:latin typeface="Calibri"/>
              </a:rPr>
              <a:t>PEDIATRIA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Algoritmo — quadril doloroso na criança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18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291840" cy="640080"/>
          </a:xfrm>
          <a:prstGeom prst="roundRect">
            <a:avLst>
              <a:gd name="adj" fmla="val 12000"/>
            </a:avLst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Criança com quadril doloroso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 recusa a apoiar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86000"/>
            <a:ext cx="3291840" cy="640080"/>
          </a:xfrm>
          <a:prstGeom prst="roundRect">
            <a:avLst>
              <a:gd name="adj" fmla="val 12000"/>
            </a:avLst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Aplicar critérios de Kocher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 PCR (Caird)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057400"/>
            <a:ext cx="0" cy="228600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3383280"/>
            <a:ext cx="3200400" cy="777240"/>
          </a:xfrm>
          <a:prstGeom prst="roundRect">
            <a:avLst>
              <a:gd name="adj" fmla="val 12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0–1 critério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Baixa probabilidade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383280"/>
            <a:ext cx="3291840" cy="777240"/>
          </a:xfrm>
          <a:prstGeom prst="roundRect">
            <a:avLst>
              <a:gd name="adj" fmla="val 12000"/>
            </a:avLst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 critérios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Probabilidade intermediária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383280"/>
            <a:ext cx="3200400" cy="777240"/>
          </a:xfrm>
          <a:prstGeom prst="roundRect">
            <a:avLst>
              <a:gd name="adj" fmla="val 12000"/>
            </a:avLst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3–4 critérios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Alta probabilidade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423160" y="2926080"/>
            <a:ext cx="3063240" cy="457200"/>
          </a:xfrm>
          <a:prstGeom prst="line">
            <a:avLst/>
          </a:prstGeom>
          <a:ln w="2032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0760" y="2926080"/>
            <a:ext cx="0" cy="457200"/>
          </a:xfrm>
          <a:prstGeom prst="line">
            <a:avLst/>
          </a:prstGeom>
          <a:ln w="20320">
            <a:solidFill>
              <a:srgbClr val="E1A1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75120" y="2926080"/>
            <a:ext cx="3063240" cy="457200"/>
          </a:xfrm>
          <a:prstGeom prst="line">
            <a:avLst/>
          </a:prstGeom>
          <a:ln w="20320">
            <a:solidFill>
              <a:srgbClr val="D645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4526280"/>
            <a:ext cx="3200400" cy="868680"/>
          </a:xfrm>
          <a:prstGeom prst="roundRect">
            <a:avLst>
              <a:gd name="adj" fmla="val 12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Observação 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reavaliação clínica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52628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USG + artrocentese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guiada / 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526280"/>
            <a:ext cx="3200400" cy="868680"/>
          </a:xfrm>
          <a:prstGeom prst="roundRect">
            <a:avLst>
              <a:gd name="adj" fmla="val 12000"/>
            </a:avLst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Artrocentese urgente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 drenagem cirúrgica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23160" y="4160520"/>
            <a:ext cx="0" cy="365760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4160520"/>
            <a:ext cx="0" cy="365760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38360" y="4160520"/>
            <a:ext cx="0" cy="365760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A conduta cirúrgica no quadril não deve ser postergada quando a suspeição é alta.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9AA7"/>
                </a:solidFill>
                <a:latin typeface="Calibri"/>
              </a:rPr>
              <a:t>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Diagnóstico diferencial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19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83080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1783080"/>
            <a:ext cx="91440" cy="109728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929384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2324F"/>
                </a:solidFill>
                <a:latin typeface="Calibri"/>
              </a:rPr>
              <a:t>Artrite por cristais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Gota e pseudogota; cristais no líquido — podem coexistir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1783080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64224" y="1783080"/>
            <a:ext cx="91440" cy="109728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38544" y="1929384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2324F"/>
                </a:solidFill>
                <a:latin typeface="Calibri"/>
              </a:rPr>
              <a:t>Artrite reativa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Pós-infecciosa; oligoartrite, entesite, uveíte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044952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3044952"/>
            <a:ext cx="91440" cy="109728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191256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2324F"/>
                </a:solidFill>
                <a:latin typeface="Calibri"/>
              </a:rPr>
              <a:t>Artrite reumatoide / AIJ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Surto agudo pode simular infecção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3044952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64224" y="3044952"/>
            <a:ext cx="91440" cy="109728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3191256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2324F"/>
                </a:solidFill>
                <a:latin typeface="Calibri"/>
              </a:rPr>
              <a:t>Hemartrose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Trauma, anticoagulação, hemofilia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4306824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" y="4306824"/>
            <a:ext cx="91440" cy="109728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4453128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2324F"/>
                </a:solidFill>
                <a:latin typeface="Calibri"/>
              </a:rPr>
              <a:t>Sinovite transitória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Criança; autolimitada, sem toxemia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4224" y="4306824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64224" y="4306824"/>
            <a:ext cx="91440" cy="109728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8544" y="4453128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2324F"/>
                </a:solidFill>
                <a:latin typeface="Calibri"/>
              </a:rPr>
              <a:t>Bursite / celulite</a:t>
            </a:r>
          </a:p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Processo periarticular, sem derrame articular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A presença de cristais NÃO exclui infecção — enviar sempre cultura.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64541"/>
                </a:solidFill>
                <a:latin typeface="Calibri"/>
              </a:rPr>
              <a:t>TRATAMENTO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Princípios do tratamento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20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874519"/>
            <a:ext cx="3520440" cy="310896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89404" y="2194560"/>
            <a:ext cx="914400" cy="914400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291839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2324F"/>
                </a:solidFill>
                <a:latin typeface="Calibri"/>
              </a:rPr>
              <a:t>Drenagem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79476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55A6B"/>
                </a:solidFill>
                <a:latin typeface="Calibri"/>
              </a:rPr>
              <a:t>Esvaziar e descomprimir a articulação: punção, artroscopia ou artrotomia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2856" y="1874519"/>
            <a:ext cx="3520440" cy="310896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65876" y="2194560"/>
            <a:ext cx="914400" cy="91440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3291839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2324F"/>
                </a:solidFill>
                <a:latin typeface="Calibri"/>
              </a:rPr>
              <a:t>Antibioticoterapia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379476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55A6B"/>
                </a:solidFill>
                <a:latin typeface="Calibri"/>
              </a:rPr>
              <a:t>Empírica precoce após culturas; ajuste dirigido pelo antibiograma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7" y="1874519"/>
            <a:ext cx="3520440" cy="310896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2348" y="2194560"/>
            <a:ext cx="914400" cy="91440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7" y="3291839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2324F"/>
                </a:solidFill>
                <a:latin typeface="Calibri"/>
              </a:rPr>
              <a:t>Suporte e reabilitação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7" y="379476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55A6B"/>
                </a:solidFill>
                <a:latin typeface="Calibri"/>
              </a:rPr>
              <a:t>Analgesia, mobilização precoce, fisioterapia e controle de comorbidades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5257800"/>
            <a:ext cx="10744200" cy="658368"/>
          </a:xfrm>
          <a:prstGeom prst="roundRect">
            <a:avLst>
              <a:gd name="adj" fmla="val 10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30952"/>
            <a:ext cx="10332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2324F"/>
                </a:solidFill>
                <a:latin typeface="Calibri"/>
              </a:rPr>
              <a:t>Coletar culturas ANTES do antibiótico; não atrasar a drenagem à espera de exames.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6FB2"/>
                </a:solidFill>
                <a:latin typeface="Calibri"/>
              </a:rPr>
              <a:t>TRATAMENTO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Antibioticoterapia empírica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21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5727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55A6B"/>
                </a:solidFill>
                <a:latin typeface="Calibri"/>
              </a:rPr>
              <a:t>Guiada pelo Gram e pelo cenário clínico — ajustar sempre ao protocolo local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86384" y="2057400"/>
          <a:ext cx="10744200" cy="3529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0"/>
                <a:gridCol w="3200400"/>
                <a:gridCol w="4114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Cenário / Gram</a:t>
                      </a:r>
                    </a:p>
                  </a:txBody>
                  <a:tcPr marL="76200" marR="76200" marT="25400" marB="25400" anchor="ctr">
                    <a:solidFill>
                      <a:srgbClr val="12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Provável agente</a:t>
                      </a:r>
                    </a:p>
                  </a:txBody>
                  <a:tcPr marL="76200" marR="76200" marT="25400" marB="25400" anchor="ctr">
                    <a:solidFill>
                      <a:srgbClr val="12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Esquema empírico usual</a:t>
                      </a:r>
                    </a:p>
                  </a:txBody>
                  <a:tcPr marL="76200" marR="76200" marT="25400" marB="25400" anchor="ctr">
                    <a:solidFill>
                      <a:srgbClr val="12324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2324F"/>
                          </a:solidFill>
                          <a:latin typeface="Calibri"/>
                        </a:rPr>
                        <a:t>Cocos Gram + / sem risco MRSA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S. aureus, estreptococos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Oxacilina ou cefazolina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2324F"/>
                          </a:solidFill>
                          <a:latin typeface="Calibri"/>
                        </a:rPr>
                        <a:t>Risco de MRSA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S. aureus resistente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Vancomicina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2324F"/>
                          </a:solidFill>
                          <a:latin typeface="Calibri"/>
                        </a:rPr>
                        <a:t>Bacilos Gram 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Enterobactérias, Pseudomonas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Cefalosporina 3ª/4ª geração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2324F"/>
                          </a:solidFill>
                          <a:latin typeface="Calibri"/>
                        </a:rPr>
                        <a:t>Gram indisponível / grave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Cobertura ampla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Vancomicina + cefalosporina 3ª/4ª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2324F"/>
                          </a:solidFill>
                          <a:latin typeface="Calibri"/>
                        </a:rPr>
                        <a:t>Adulto jovem sexualmente ativo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N. gonorrhoeae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Ceftriaxona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2324F"/>
                          </a:solidFill>
                          <a:latin typeface="Calibri"/>
                        </a:rPr>
                        <a:t>Trauma / UDIV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Incluir Pseudomonas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55A6B"/>
                          </a:solidFill>
                          <a:latin typeface="Calibri"/>
                        </a:rPr>
                        <a:t>Ativo anti-pseudomonas</a:t>
                      </a:r>
                    </a:p>
                  </a:txBody>
                  <a:tcPr marL="76200" marR="76200" marT="25400" marB="2540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6384" y="59436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Ajustar dose por peso e função renal. Descalonar após cultura/antibiograma.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6FB2"/>
                </a:solidFill>
                <a:latin typeface="Calibri"/>
              </a:rPr>
              <a:t>TRATAMENTO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Terapia dirigida e duração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22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83080"/>
            <a:ext cx="5852160" cy="932688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1783080"/>
            <a:ext cx="91440" cy="93268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901952"/>
            <a:ext cx="5486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2324F"/>
                </a:solidFill>
                <a:latin typeface="Calibri"/>
              </a:rPr>
              <a:t>Início intravenoso</a:t>
            </a:r>
          </a:p>
          <a:p>
            <a:pPr algn="l"/>
            <a:r>
              <a:rPr sz="1100" b="0" i="0">
                <a:solidFill>
                  <a:srgbClr val="455A6B"/>
                </a:solidFill>
                <a:latin typeface="Calibri"/>
              </a:rPr>
              <a:t>IV nas primeiras 2 semanas, conforme resposta clínica e laboratorial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2807208"/>
            <a:ext cx="5852160" cy="932688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2807208"/>
            <a:ext cx="91440" cy="93268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926080"/>
            <a:ext cx="5486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2324F"/>
                </a:solidFill>
                <a:latin typeface="Calibri"/>
              </a:rPr>
              <a:t>Transição para via oral</a:t>
            </a:r>
          </a:p>
          <a:p>
            <a:pPr algn="l"/>
            <a:r>
              <a:rPr sz="1100" b="0" i="0">
                <a:solidFill>
                  <a:srgbClr val="455A6B"/>
                </a:solidFill>
                <a:latin typeface="Calibri"/>
              </a:rPr>
              <a:t>Possível com boa evolução e agente sensível de boa biodisponibilidade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831336"/>
            <a:ext cx="5852160" cy="932688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3831336"/>
            <a:ext cx="91440" cy="93268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950208"/>
            <a:ext cx="5486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2324F"/>
                </a:solidFill>
                <a:latin typeface="Calibri"/>
              </a:rPr>
              <a:t>Duração total</a:t>
            </a:r>
          </a:p>
          <a:p>
            <a:pPr algn="l"/>
            <a:r>
              <a:rPr sz="1100" b="0" i="0">
                <a:solidFill>
                  <a:srgbClr val="455A6B"/>
                </a:solidFill>
                <a:latin typeface="Calibri"/>
              </a:rPr>
              <a:t>Habitualmente 3–4 semanas (piogênicos); individualizar por agente e evolução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4855464"/>
            <a:ext cx="5852160" cy="932688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" y="4855464"/>
            <a:ext cx="91440" cy="93268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974336"/>
            <a:ext cx="5486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2324F"/>
                </a:solidFill>
                <a:latin typeface="Calibri"/>
              </a:rPr>
              <a:t>Monitoramento</a:t>
            </a:r>
          </a:p>
          <a:p>
            <a:pPr algn="l"/>
            <a:r>
              <a:rPr sz="1100" b="0" i="0">
                <a:solidFill>
                  <a:srgbClr val="455A6B"/>
                </a:solidFill>
                <a:latin typeface="Calibri"/>
              </a:rPr>
              <a:t>PCR seriada, exame clínico e reavaliação da articulação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1783080"/>
            <a:ext cx="4526280" cy="4114800"/>
          </a:xfrm>
          <a:prstGeom prst="roundRect">
            <a:avLst>
              <a:gd name="adj" fmla="val 4000"/>
            </a:avLst>
          </a:prstGeom>
          <a:solidFill>
            <a:srgbClr val="E6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20116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9AA7"/>
                </a:solidFill>
                <a:latin typeface="Calibri"/>
              </a:rPr>
              <a:t>AGENTES QUE EXIGEM MAIS TEMPO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2468880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2324F"/>
                </a:solidFill>
                <a:latin typeface="Calibri"/>
              </a:rPr>
              <a:t>Gonococo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46888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E9AA7"/>
                </a:solidFill>
                <a:latin typeface="Calibri"/>
              </a:rPr>
              <a:t>7–14 dias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87768" y="2926080"/>
            <a:ext cx="3931920" cy="1016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87768" y="3035808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2324F"/>
                </a:solidFill>
                <a:latin typeface="Calibri"/>
              </a:rPr>
              <a:t>Estreptococo / estafilococo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303580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E9AA7"/>
                </a:solidFill>
                <a:latin typeface="Calibri"/>
              </a:rPr>
              <a:t>3–4 semanas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87768" y="3493008"/>
            <a:ext cx="3931920" cy="1016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7768" y="3602736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2324F"/>
                </a:solidFill>
                <a:latin typeface="Calibri"/>
              </a:rPr>
              <a:t>Gram-negativos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602736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E9AA7"/>
                </a:solidFill>
                <a:latin typeface="Calibri"/>
              </a:rPr>
              <a:t>3–4 semanas ou mais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87768" y="4059936"/>
            <a:ext cx="3931920" cy="1016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87768" y="4169664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2324F"/>
                </a:solidFill>
                <a:latin typeface="Calibri"/>
              </a:rPr>
              <a:t>Micobactérias / fungos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4169664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E9AA7"/>
                </a:solidFill>
                <a:latin typeface="Calibri"/>
              </a:rPr>
              <a:t>meses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87768" y="4626864"/>
            <a:ext cx="3931920" cy="1016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7768" y="4736592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2324F"/>
                </a:solidFill>
                <a:latin typeface="Calibri"/>
              </a:rPr>
              <a:t>Prótese articular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4736592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E9AA7"/>
                </a:solidFill>
                <a:latin typeface="Calibri"/>
              </a:rPr>
              <a:t>6–12 semanas + estratégia cirúrgica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87768" y="5193792"/>
            <a:ext cx="3931920" cy="1016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Durações são orientativas; seguir protocolo institucional e evolução individual.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64541"/>
                </a:solidFill>
                <a:latin typeface="Calibri"/>
              </a:rPr>
              <a:t>TRATAMENTO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Drenagem articular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23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83080"/>
            <a:ext cx="3520440" cy="329184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786384" y="1783080"/>
            <a:ext cx="3520440" cy="594360"/>
          </a:xfrm>
          <a:prstGeom prst="round2Same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810512"/>
            <a:ext cx="3520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Punção / aspiração</a:t>
            </a:r>
          </a:p>
        </p:txBody>
      </p:sp>
      <p:sp>
        <p:nvSpPr>
          <p:cNvPr id="11" name="Oval 10"/>
          <p:cNvSpPr/>
          <p:nvPr/>
        </p:nvSpPr>
        <p:spPr>
          <a:xfrm>
            <a:off x="1060704" y="2743200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265176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Articulações superficiais acessíveis</a:t>
            </a:r>
          </a:p>
        </p:txBody>
      </p:sp>
      <p:sp>
        <p:nvSpPr>
          <p:cNvPr id="13" name="Oval 12"/>
          <p:cNvSpPr/>
          <p:nvPr/>
        </p:nvSpPr>
        <p:spPr>
          <a:xfrm>
            <a:off x="1060704" y="3493008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9304" y="3401568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Pode ser repetida</a:t>
            </a:r>
          </a:p>
        </p:txBody>
      </p:sp>
      <p:sp>
        <p:nvSpPr>
          <p:cNvPr id="15" name="Oval 14"/>
          <p:cNvSpPr/>
          <p:nvPr/>
        </p:nvSpPr>
        <p:spPr>
          <a:xfrm>
            <a:off x="1060704" y="4242816"/>
            <a:ext cx="100584" cy="10058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9304" y="4151376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Falha → escalonar para cirurgia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62856" y="1783080"/>
            <a:ext cx="3520440" cy="329184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4562856" y="1783080"/>
            <a:ext cx="3520440" cy="594360"/>
          </a:xfrm>
          <a:prstGeom prst="round2Same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1810512"/>
            <a:ext cx="3520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Artroscopia</a:t>
            </a:r>
          </a:p>
        </p:txBody>
      </p:sp>
      <p:sp>
        <p:nvSpPr>
          <p:cNvPr id="20" name="Oval 19"/>
          <p:cNvSpPr/>
          <p:nvPr/>
        </p:nvSpPr>
        <p:spPr>
          <a:xfrm>
            <a:off x="4837176" y="2743200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265176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Lavagem e desbridamento</a:t>
            </a:r>
          </a:p>
        </p:txBody>
      </p:sp>
      <p:sp>
        <p:nvSpPr>
          <p:cNvPr id="22" name="Oval 21"/>
          <p:cNvSpPr/>
          <p:nvPr/>
        </p:nvSpPr>
        <p:spPr>
          <a:xfrm>
            <a:off x="4837176" y="3493008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65776" y="3401568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Menor morbidade</a:t>
            </a:r>
          </a:p>
        </p:txBody>
      </p:sp>
      <p:sp>
        <p:nvSpPr>
          <p:cNvPr id="24" name="Oval 23"/>
          <p:cNvSpPr/>
          <p:nvPr/>
        </p:nvSpPr>
        <p:spPr>
          <a:xfrm>
            <a:off x="4837176" y="4242816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65776" y="4151376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Preferida em joelho e ombro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7" y="1783080"/>
            <a:ext cx="3520440" cy="329184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>
            <a:off x="8339327" y="1783080"/>
            <a:ext cx="3520440" cy="594360"/>
          </a:xfrm>
          <a:prstGeom prst="round2Same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1810512"/>
            <a:ext cx="3520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Artrotomia aberta</a:t>
            </a:r>
          </a:p>
        </p:txBody>
      </p:sp>
      <p:sp>
        <p:nvSpPr>
          <p:cNvPr id="29" name="Oval 28"/>
          <p:cNvSpPr/>
          <p:nvPr/>
        </p:nvSpPr>
        <p:spPr>
          <a:xfrm>
            <a:off x="8613648" y="2743200"/>
            <a:ext cx="100584" cy="10058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2248" y="265176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Quadril (crianças) e falha prévia</a:t>
            </a:r>
          </a:p>
        </p:txBody>
      </p:sp>
      <p:sp>
        <p:nvSpPr>
          <p:cNvPr id="31" name="Oval 30"/>
          <p:cNvSpPr/>
          <p:nvPr/>
        </p:nvSpPr>
        <p:spPr>
          <a:xfrm>
            <a:off x="8613648" y="3493008"/>
            <a:ext cx="100584" cy="10058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42248" y="3401568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Articulações profundas/loculadas</a:t>
            </a:r>
          </a:p>
        </p:txBody>
      </p:sp>
      <p:sp>
        <p:nvSpPr>
          <p:cNvPr id="33" name="Oval 32"/>
          <p:cNvSpPr/>
          <p:nvPr/>
        </p:nvSpPr>
        <p:spPr>
          <a:xfrm>
            <a:off x="8613648" y="4242816"/>
            <a:ext cx="100584" cy="10058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42248" y="4151376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Desbridamento amplo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" y="5349240"/>
            <a:ext cx="10744200" cy="640080"/>
          </a:xfrm>
          <a:prstGeom prst="roundRect">
            <a:avLst>
              <a:gd name="adj" fmla="val 10000"/>
            </a:avLst>
          </a:prstGeom>
          <a:solidFill>
            <a:srgbClr val="FA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413248"/>
            <a:ext cx="10332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2324F"/>
                </a:solidFill>
                <a:latin typeface="Calibri"/>
              </a:rPr>
              <a:t>Quadril séptico é indicação clássica de drenagem cirúrgica urgente, especialmente em crianças.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64541"/>
                </a:solidFill>
                <a:latin typeface="Calibri"/>
              </a:rPr>
              <a:t>TRATAMENTO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Algoritmo de manejo — articulação nativa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24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291840" cy="658368"/>
          </a:xfrm>
          <a:prstGeom prst="roundRect">
            <a:avLst>
              <a:gd name="adj" fmla="val 12000"/>
            </a:avLst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Diagnóstico de artrite séptica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12848"/>
            <a:ext cx="3291840" cy="658368"/>
          </a:xfrm>
          <a:prstGeom prst="roundRect">
            <a:avLst>
              <a:gd name="adj" fmla="val 12000"/>
            </a:avLst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ATB empírico + drenagem inicial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029968"/>
            <a:ext cx="0" cy="182880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34840" y="3054096"/>
            <a:ext cx="3291840" cy="658368"/>
          </a:xfrm>
          <a:prstGeom prst="roundRect">
            <a:avLst>
              <a:gd name="adj" fmla="val 1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Reavaliar em 48–72 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871216"/>
            <a:ext cx="0" cy="182880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97280" y="41148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Melhora clínica 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queda da PCR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1148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Sem melhora /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derrame persistente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743200" y="3712463"/>
            <a:ext cx="2468880" cy="402337"/>
          </a:xfrm>
          <a:prstGeom prst="line">
            <a:avLst/>
          </a:prstGeom>
          <a:ln w="2032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49440" y="3712463"/>
            <a:ext cx="2468880" cy="402337"/>
          </a:xfrm>
          <a:prstGeom prst="line">
            <a:avLst/>
          </a:prstGeom>
          <a:ln w="20320">
            <a:solidFill>
              <a:srgbClr val="D645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97280" y="5120640"/>
            <a:ext cx="3291840" cy="731520"/>
          </a:xfrm>
          <a:prstGeom prst="roundRect">
            <a:avLst>
              <a:gd name="adj" fmla="val 12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Manter ATB 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reabilitação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5120640"/>
            <a:ext cx="3291840" cy="731520"/>
          </a:xfrm>
          <a:prstGeom prst="roundRect">
            <a:avLst>
              <a:gd name="adj" fmla="val 12000"/>
            </a:avLst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Nova drenagem /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desbridamento cirúrgico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5029200"/>
            <a:ext cx="0" cy="91440"/>
          </a:xfrm>
          <a:prstGeom prst="line">
            <a:avLst/>
          </a:prstGeom>
          <a:ln w="2032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18320" y="5029200"/>
            <a:ext cx="0" cy="91440"/>
          </a:xfrm>
          <a:prstGeom prst="line">
            <a:avLst/>
          </a:prstGeom>
          <a:ln w="20320">
            <a:solidFill>
              <a:srgbClr val="D645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Falha de resposta impõe reintervenção e reavaliação do agente e do foco.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9AA7"/>
                </a:solidFill>
                <a:latin typeface="Calibri"/>
              </a:rPr>
              <a:t>CENÁRIOS AVANÇADOS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Artrite gonocócica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25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572768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55A6B"/>
                </a:solidFill>
                <a:latin typeface="Calibri"/>
              </a:rPr>
              <a:t>Infecção gonocócica disseminada — adulto jovem, sexualmente ativo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194560"/>
            <a:ext cx="5760720" cy="169164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2194560"/>
            <a:ext cx="91440" cy="169164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0428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2324F"/>
                </a:solidFill>
                <a:latin typeface="Calibri"/>
              </a:rPr>
              <a:t>Forma artrite-dermatite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2798064"/>
            <a:ext cx="91440" cy="9144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1016" y="272491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Poliartralgia migratória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3300984"/>
            <a:ext cx="91440" cy="9144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71016" y="322783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Tenossinovite</a:t>
            </a:r>
          </a:p>
        </p:txBody>
      </p:sp>
      <p:sp>
        <p:nvSpPr>
          <p:cNvPr id="16" name="Oval 15"/>
          <p:cNvSpPr/>
          <p:nvPr/>
        </p:nvSpPr>
        <p:spPr>
          <a:xfrm>
            <a:off x="3611880" y="2798064"/>
            <a:ext cx="91440" cy="9144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1336" y="272491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Lesões cutâneas pustulosas</a:t>
            </a:r>
          </a:p>
        </p:txBody>
      </p:sp>
      <p:sp>
        <p:nvSpPr>
          <p:cNvPr id="18" name="Oval 17"/>
          <p:cNvSpPr/>
          <p:nvPr/>
        </p:nvSpPr>
        <p:spPr>
          <a:xfrm>
            <a:off x="3611880" y="3300984"/>
            <a:ext cx="91440" cy="9144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31336" y="322783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Cultura articular geralmente negativa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4069079"/>
            <a:ext cx="5760720" cy="169164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" y="4069079"/>
            <a:ext cx="91440" cy="169164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178807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2324F"/>
                </a:solidFill>
                <a:latin typeface="Calibri"/>
              </a:rPr>
              <a:t>Forma artrite purulenta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" y="4672583"/>
            <a:ext cx="91440" cy="9144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71016" y="4599431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Mono/oligoartrite</a:t>
            </a:r>
          </a:p>
        </p:txBody>
      </p:sp>
      <p:sp>
        <p:nvSpPr>
          <p:cNvPr id="25" name="Oval 24"/>
          <p:cNvSpPr/>
          <p:nvPr/>
        </p:nvSpPr>
        <p:spPr>
          <a:xfrm>
            <a:off x="1051560" y="5175503"/>
            <a:ext cx="91440" cy="9144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71016" y="5102351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Líquido purulento</a:t>
            </a:r>
          </a:p>
        </p:txBody>
      </p:sp>
      <p:sp>
        <p:nvSpPr>
          <p:cNvPr id="27" name="Oval 26"/>
          <p:cNvSpPr/>
          <p:nvPr/>
        </p:nvSpPr>
        <p:spPr>
          <a:xfrm>
            <a:off x="3611880" y="4672583"/>
            <a:ext cx="91440" cy="9144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31336" y="4599431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Cultura pode ser positiva</a:t>
            </a:r>
          </a:p>
        </p:txBody>
      </p:sp>
      <p:sp>
        <p:nvSpPr>
          <p:cNvPr id="29" name="Oval 28"/>
          <p:cNvSpPr/>
          <p:nvPr/>
        </p:nvSpPr>
        <p:spPr>
          <a:xfrm>
            <a:off x="3611880" y="5175503"/>
            <a:ext cx="91440" cy="9144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31336" y="5102351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55A6B"/>
                </a:solidFill>
                <a:latin typeface="Calibri"/>
              </a:rPr>
              <a:t>Menos manifestações sistêmicas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3720" y="1783080"/>
            <a:ext cx="4617720" cy="4114800"/>
          </a:xfrm>
          <a:prstGeom prst="roundRect">
            <a:avLst>
              <a:gd name="adj" fmla="val 4000"/>
            </a:avLst>
          </a:prstGeom>
          <a:solidFill>
            <a:srgbClr val="E6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96328" y="20116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9AA7"/>
                </a:solidFill>
                <a:latin typeface="Calibri"/>
              </a:rPr>
              <a:t>DIAGNÓSTICO E TRATAMENTO</a:t>
            </a:r>
          </a:p>
        </p:txBody>
      </p:sp>
      <p:sp>
        <p:nvSpPr>
          <p:cNvPr id="33" name="Oval 32"/>
          <p:cNvSpPr/>
          <p:nvPr/>
        </p:nvSpPr>
        <p:spPr>
          <a:xfrm>
            <a:off x="7214616" y="2560320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246888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NAAT/cultura de sítios genital, retal e faríngeo</a:t>
            </a:r>
          </a:p>
        </p:txBody>
      </p:sp>
      <p:sp>
        <p:nvSpPr>
          <p:cNvPr id="35" name="Oval 34"/>
          <p:cNvSpPr/>
          <p:nvPr/>
        </p:nvSpPr>
        <p:spPr>
          <a:xfrm>
            <a:off x="7214616" y="3127248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3035808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Hemoculturas e cultura do líquido sinovial</a:t>
            </a:r>
          </a:p>
        </p:txBody>
      </p:sp>
      <p:sp>
        <p:nvSpPr>
          <p:cNvPr id="37" name="Oval 36"/>
          <p:cNvSpPr/>
          <p:nvPr/>
        </p:nvSpPr>
        <p:spPr>
          <a:xfrm>
            <a:off x="7214616" y="3694176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3602736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Ceftriaxona é o tratamento de escolha</a:t>
            </a:r>
          </a:p>
        </p:txBody>
      </p:sp>
      <p:sp>
        <p:nvSpPr>
          <p:cNvPr id="39" name="Oval 38"/>
          <p:cNvSpPr/>
          <p:nvPr/>
        </p:nvSpPr>
        <p:spPr>
          <a:xfrm>
            <a:off x="7214616" y="4261104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4169664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Rastrear e tratar coinfecção por clamídia</a:t>
            </a:r>
          </a:p>
        </p:txBody>
      </p:sp>
      <p:sp>
        <p:nvSpPr>
          <p:cNvPr id="41" name="Oval 40"/>
          <p:cNvSpPr/>
          <p:nvPr/>
        </p:nvSpPr>
        <p:spPr>
          <a:xfrm>
            <a:off x="7214616" y="4828032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2360" y="473659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Boa resposta clínica; excelente prognóstico</a:t>
            </a:r>
          </a:p>
        </p:txBody>
      </p:sp>
      <p:sp>
        <p:nvSpPr>
          <p:cNvPr id="43" name="Oval 42"/>
          <p:cNvSpPr/>
          <p:nvPr/>
        </p:nvSpPr>
        <p:spPr>
          <a:xfrm>
            <a:off x="7214616" y="5394960"/>
            <a:ext cx="100584" cy="100584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60" y="530352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55A6B"/>
                </a:solidFill>
                <a:latin typeface="Calibri"/>
              </a:rPr>
              <a:t>Notificar e tratar parceiros (IST)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Melhor prognóstico articular que a artrite não gonocócica.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64541"/>
                </a:solidFill>
                <a:latin typeface="Calibri"/>
              </a:rPr>
              <a:t>CENÁRIOS AVANÇADOS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Infecção de prótese articular (PJI)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26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5727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55A6B"/>
                </a:solidFill>
                <a:latin typeface="Calibri"/>
              </a:rPr>
              <a:t>Classificação temporal (a partir da cirurgia)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96596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786384" y="1965960"/>
            <a:ext cx="3520440" cy="502920"/>
          </a:xfrm>
          <a:prstGeom prst="round2Same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84248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Precoce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587752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2324F"/>
                </a:solidFill>
                <a:latin typeface="Calibri"/>
              </a:rPr>
              <a:t>&lt; 3 meses</a:t>
            </a:r>
          </a:p>
          <a:p>
            <a:pPr algn="ctr"/>
            <a:r>
              <a:rPr sz="1050" b="0" i="0">
                <a:solidFill>
                  <a:srgbClr val="455A6B"/>
                </a:solidFill>
                <a:latin typeface="Calibri"/>
              </a:rPr>
              <a:t>S. aureus, Gram-negativos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62856" y="196596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4562856" y="1965960"/>
            <a:ext cx="3520440" cy="502920"/>
          </a:xfrm>
          <a:prstGeom prst="round2Same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1984248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Tardia (retardada)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587752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2324F"/>
                </a:solidFill>
                <a:latin typeface="Calibri"/>
              </a:rPr>
              <a:t>3–12/24 meses</a:t>
            </a:r>
          </a:p>
          <a:p>
            <a:pPr algn="ctr"/>
            <a:r>
              <a:rPr sz="1050" b="0" i="0">
                <a:solidFill>
                  <a:srgbClr val="455A6B"/>
                </a:solidFill>
                <a:latin typeface="Calibri"/>
              </a:rPr>
              <a:t>Estafilococos coag.-neg., Cutibacterium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7" y="196596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8339327" y="1965960"/>
            <a:ext cx="3520440" cy="502920"/>
          </a:xfrm>
          <a:prstGeom prst="round2SameRect">
            <a:avLst/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1984248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Tardia hematogênica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7" y="2587752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2324F"/>
                </a:solidFill>
                <a:latin typeface="Calibri"/>
              </a:rPr>
              <a:t>&gt; 12–24 meses</a:t>
            </a:r>
          </a:p>
          <a:p>
            <a:pPr algn="ctr"/>
            <a:r>
              <a:rPr sz="1050" b="0" i="0">
                <a:solidFill>
                  <a:srgbClr val="455A6B"/>
                </a:solidFill>
                <a:latin typeface="Calibri"/>
              </a:rPr>
              <a:t>Disseminação de foco à distância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" y="3886200"/>
            <a:ext cx="10744200" cy="1828800"/>
          </a:xfrm>
          <a:prstGeom prst="roundRect">
            <a:avLst>
              <a:gd name="adj" fmla="val 4000"/>
            </a:avLst>
          </a:prstGeom>
          <a:solidFill>
            <a:srgbClr val="FA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0416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64541"/>
                </a:solidFill>
                <a:latin typeface="Calibri"/>
              </a:rPr>
              <a:t>CRITÉRIOS DIAGNÓSTICOS (EBJIS / ICM — confirmam PJI)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4553712"/>
            <a:ext cx="100584" cy="10058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5024" y="44805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55A6B"/>
                </a:solidFill>
                <a:latin typeface="Calibri"/>
              </a:rPr>
              <a:t>Fístula/trajeto comunicante com a prótese ou pus visível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" y="4956048"/>
            <a:ext cx="100584" cy="10058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35024" y="488289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55A6B"/>
                </a:solidFill>
                <a:latin typeface="Calibri"/>
              </a:rPr>
              <a:t>≥ 2 culturas periprotéticas com o mesmo microrganismo</a:t>
            </a:r>
          </a:p>
        </p:txBody>
      </p:sp>
      <p:sp>
        <p:nvSpPr>
          <p:cNvPr id="27" name="Oval 26"/>
          <p:cNvSpPr/>
          <p:nvPr/>
        </p:nvSpPr>
        <p:spPr>
          <a:xfrm>
            <a:off x="1097280" y="5358384"/>
            <a:ext cx="100584" cy="10058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35024" y="528523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55A6B"/>
                </a:solidFill>
                <a:latin typeface="Calibri"/>
              </a:rPr>
              <a:t>Líquido sinovial &gt; 3.000 leuc./mm³ ou PMN &gt; 80% (PJI crônica)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4553712"/>
            <a:ext cx="100584" cy="10058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44805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55A6B"/>
                </a:solidFill>
                <a:latin typeface="Calibri"/>
              </a:rPr>
              <a:t>Histologia periprotética com inflamação aguda</a:t>
            </a:r>
          </a:p>
        </p:txBody>
      </p:sp>
      <p:sp>
        <p:nvSpPr>
          <p:cNvPr id="31" name="Oval 30"/>
          <p:cNvSpPr/>
          <p:nvPr/>
        </p:nvSpPr>
        <p:spPr>
          <a:xfrm>
            <a:off x="6309360" y="4956048"/>
            <a:ext cx="100584" cy="10058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488289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55A6B"/>
                </a:solidFill>
                <a:latin typeface="Calibri"/>
              </a:rPr>
              <a:t>Biomarcadores sinoviais (ex.: alfa-defensina)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MSIS/ICM 2018 e EBJIS 2021 definem PJI. Limiares sinoviais diferem da articulação nativa.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64541"/>
                </a:solidFill>
                <a:latin typeface="Calibri"/>
              </a:rPr>
              <a:t>CENÁRIOS AVANÇADOS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PJI — estratégias de tratamento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27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291840" cy="658368"/>
          </a:xfrm>
          <a:prstGeom prst="roundRect">
            <a:avLst>
              <a:gd name="adj" fmla="val 12000"/>
            </a:avLst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PJI confirmada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14600"/>
            <a:ext cx="3200400" cy="960120"/>
          </a:xfrm>
          <a:prstGeom prst="roundRect">
            <a:avLst>
              <a:gd name="adj" fmla="val 1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Aguda / precoce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Implante estável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sem trajeto fistuloso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514600"/>
            <a:ext cx="3200400" cy="960120"/>
          </a:xfrm>
          <a:prstGeom prst="roundRect">
            <a:avLst>
              <a:gd name="adj" fmla="val 12000"/>
            </a:avLst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Crônica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ou implante instável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514600"/>
            <a:ext cx="3200400" cy="960120"/>
          </a:xfrm>
          <a:prstGeom prst="roundRect">
            <a:avLst>
              <a:gd name="adj" fmla="val 12000"/>
            </a:avLst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Comorbidade proibitiva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ou recusa cirúrgica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514600" y="2029968"/>
            <a:ext cx="2880360" cy="484632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2029968"/>
            <a:ext cx="0" cy="484632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66560" y="2029968"/>
            <a:ext cx="2880360" cy="484632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388620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DAIR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desbridamento + troca de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componentes móveis + ATB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88620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Revisão em 1 ou 2 tempos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(espaçador com antibiótico)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88620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E1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Terapia supressiva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crônica com antibiótico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14600" y="3474720"/>
            <a:ext cx="0" cy="411480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3474720"/>
            <a:ext cx="0" cy="411480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46920" y="3474720"/>
            <a:ext cx="0" cy="411480"/>
          </a:xfrm>
          <a:prstGeom prst="line">
            <a:avLst/>
          </a:prstGeom>
          <a:ln w="20320">
            <a:solidFill>
              <a:srgbClr val="8A9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6384" y="5166360"/>
            <a:ext cx="10744200" cy="685800"/>
          </a:xfrm>
          <a:prstGeom prst="roundRect">
            <a:avLst>
              <a:gd name="adj" fmla="val 10000"/>
            </a:avLst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39512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2324F"/>
                </a:solidFill>
                <a:latin typeface="Calibri"/>
              </a:rPr>
              <a:t>Decisão multidisciplinar (ortopedia + infectologia). Retenção do implante exige agudeza, estabilidade e agente tratável com biofilme (ex.: rifampicina para estafilococos).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64541"/>
                </a:solidFill>
                <a:latin typeface="Calibri"/>
              </a:rPr>
              <a:t>DESFECHOS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Complicações e prognóstico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28 / 30</a:t>
            </a:r>
          </a:p>
        </p:txBody>
      </p:sp>
      <p:pic>
        <p:nvPicPr>
          <p:cNvPr id="8" name="Picture 7" descr="prognos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0"/>
            <a:ext cx="5486400" cy="36294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" y="173736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55A6B"/>
                </a:solidFill>
                <a:latin typeface="Calibri"/>
              </a:rPr>
              <a:t>Desfechos desfavoráveis (aprox.)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7373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64541"/>
                </a:solidFill>
                <a:latin typeface="Calibri"/>
              </a:rPr>
              <a:t>FATORES DE PIOR PROGNÓSTICO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2276856"/>
            <a:ext cx="100584" cy="10058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78624" y="219456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Idade avançada e comorbidades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0" y="2825496"/>
            <a:ext cx="100584" cy="10058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8624" y="274320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Atraso no diagnóstico e na drenagem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0" y="3374136"/>
            <a:ext cx="100584" cy="10058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624" y="329184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Acometimento poliarticular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0" y="3922776"/>
            <a:ext cx="100584" cy="10058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78624" y="384048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S. aureus, sobretudo MRSA</a:t>
            </a:r>
          </a:p>
        </p:txBody>
      </p:sp>
      <p:sp>
        <p:nvSpPr>
          <p:cNvPr id="19" name="Oval 18"/>
          <p:cNvSpPr/>
          <p:nvPr/>
        </p:nvSpPr>
        <p:spPr>
          <a:xfrm>
            <a:off x="7040880" y="4471416"/>
            <a:ext cx="100584" cy="10058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8624" y="43891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Prótese articular e imunossupressão</a:t>
            </a:r>
          </a:p>
        </p:txBody>
      </p:sp>
      <p:sp>
        <p:nvSpPr>
          <p:cNvPr id="21" name="Oval 20"/>
          <p:cNvSpPr/>
          <p:nvPr/>
        </p:nvSpPr>
        <p:spPr>
          <a:xfrm>
            <a:off x="7040880" y="5020055"/>
            <a:ext cx="100584" cy="10058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8624" y="4937759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A6B"/>
                </a:solidFill>
                <a:latin typeface="Calibri"/>
              </a:rPr>
              <a:t>Doença articular prévia (ex.: AR)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553212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FC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5577840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2324F"/>
                </a:solidFill>
                <a:latin typeface="Calibri"/>
              </a:rPr>
              <a:t>Diagnóstico e drenagem precoces = melhor desfecho funcional.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Sequelas: rigidez, artrose secundária, osteomielite e instabilidade articular.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E9AA7"/>
                </a:solidFill>
                <a:latin typeface="Calibri"/>
              </a:rPr>
              <a:t>MENSAGENS-CHAVE</a:t>
            </a:r>
          </a:p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10 pontos para levar para a prática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20824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874519"/>
            <a:ext cx="4572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Monoartrite aguda é artrite séptica até prova em contrário.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2020824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2592" y="1874519"/>
            <a:ext cx="4572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Puncionar sempre antes do antibiótico; enviar Gram, cultura e cristais.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734056"/>
            <a:ext cx="4572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Nenhum ponto de corte de leucócitos exclui infecção isoladamente.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880360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2734056"/>
            <a:ext cx="4572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S. aureus é o agente mais comum na forma não gonocócica.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39896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593591"/>
            <a:ext cx="4572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Joelho no adulto; quadril na criança — este último é emergência.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3739896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3593591"/>
            <a:ext cx="4572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Kocher + Caird orientam a criança com quadril doloroso.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599431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453127"/>
            <a:ext cx="4572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Tratamento = drenagem + antibiótico dirigido + reabilitação.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4599431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4453127"/>
            <a:ext cx="4572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Ceftriaxona para a artrite gonocócica; ótimo prognóstico.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458968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5312664"/>
            <a:ext cx="4572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PJI exige critérios formais e decisão com a infectologia.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5458968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5312664"/>
            <a:ext cx="4572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Tempo é cartilagem: atraso piora o desfecho funcional.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8229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6FB2"/>
                </a:solidFill>
                <a:latin typeface="Calibri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786384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2324F"/>
                </a:solidFill>
                <a:latin typeface="Calibri"/>
              </a:rPr>
              <a:t>Referências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1672" cy="1143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BA8"/>
                </a:solidFill>
                <a:latin typeface="Calibri"/>
              </a:rPr>
              <a:t>Artrite Séptica — do básico ao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19088"/>
            <a:ext cx="2039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8A9BA8"/>
                </a:solidFill>
                <a:latin typeface="Calibri"/>
              </a:rPr>
              <a:t>30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737360"/>
            <a:ext cx="5394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455A6B"/>
                </a:solidFill>
                <a:latin typeface="Calibri"/>
              </a:rPr>
              <a:t>1. Margaretten ME, Kohlwes J, Moore D, Bent S. Does this adult patient have septic arthritis? JAMA. 2007;297(13):1478–88. PMID 17405973.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514600"/>
            <a:ext cx="5394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455A6B"/>
                </a:solidFill>
                <a:latin typeface="Calibri"/>
              </a:rPr>
              <a:t>2. Mathews CJ, Weston VC, Jones A, Field M, Coakley G. Bacterial septic arthritis in adults. Lancet. 2010;375(9717):846–55. PMID 20206778.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291839"/>
            <a:ext cx="5394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455A6B"/>
                </a:solidFill>
                <a:latin typeface="Calibri"/>
              </a:rPr>
              <a:t>3. Coakley G, et al. BSR &amp; BHPR, BOA, RCGP and BSAC guidelines for management of the hot swollen joint in adults. Rheumatology (Oxford). 2006;45(8):1039–41. PMID 16829534.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069079"/>
            <a:ext cx="5394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455A6B"/>
                </a:solidFill>
                <a:latin typeface="Calibri"/>
              </a:rPr>
              <a:t>4. Kocher MS, Zurakowski D, Kasser JR. Differentiating septic arthritis from transient synovitis of the hip in children. J Bone Joint Surg Am. 1999;81(12):1662–70. PMID 10608376.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846320"/>
            <a:ext cx="5394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455A6B"/>
                </a:solidFill>
                <a:latin typeface="Calibri"/>
              </a:rPr>
              <a:t>5. Caird MS, et al. Factors distinguishing septic arthritis from transient synovitis of the hip in children: a prospective study. J Bone Joint Surg Am. 2006;88(6):1251–7. PMID 16757758.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623560"/>
            <a:ext cx="5394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455A6B"/>
                </a:solidFill>
                <a:latin typeface="Calibri"/>
              </a:rPr>
              <a:t>6. Luhmann SJ, et al. Differentiation between septic arthritis and transient synovitis of the hip in children. J Bone Joint Surg Am. 2004;86(5):956–62. PMID 15118038.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1737360"/>
            <a:ext cx="5394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455A6B"/>
                </a:solidFill>
                <a:latin typeface="Calibri"/>
              </a:rPr>
              <a:t>7. Davis CM, Zamora RA. Surgical options and approaches for septic arthritis of the native hip and knee joint. J Arthroplasty. 2020;35(3S):S14–S18. PMID 32046824.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514600"/>
            <a:ext cx="5394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455A6B"/>
                </a:solidFill>
                <a:latin typeface="Calibri"/>
              </a:rPr>
              <a:t>8. Tverring J, et al. Septic Arthritis Score (SAS) for the adult native knee. BMC Infect Dis. 2025;25(1):926. PMID 40681984.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291839"/>
            <a:ext cx="5394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455A6B"/>
                </a:solidFill>
                <a:latin typeface="Calibri"/>
              </a:rPr>
              <a:t>9. McNally M, et al. The EBJIS definition of periprosthetic joint infection. Bone Joint J. 2021;103-B(1):18–25. PMID 33380199.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4069079"/>
            <a:ext cx="5394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455A6B"/>
                </a:solidFill>
                <a:latin typeface="Calibri"/>
              </a:rPr>
              <a:t>10. Parvizi J, et al. The 2018 definition of periprosthetic hip and knee infection. J Arthroplasty. 2018;33(5):1309–14. PMID 29551303.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4846320"/>
            <a:ext cx="5394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455A6B"/>
                </a:solidFill>
                <a:latin typeface="Calibri"/>
              </a:rPr>
              <a:t>11. Osmon DR, et al. Diagnosis and management of prosthetic joint infection: IDSA guidelines. Clin Infect Dis. 2013;56(1):e1–e25. PMID 23223583.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5623560"/>
            <a:ext cx="5394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455A6B"/>
                </a:solidFill>
                <a:latin typeface="Calibri"/>
              </a:rPr>
              <a:t>12. Workowski KA, et al. Sexually transmitted infections treatment guidelines, 2021. MMWR Recomm Rep. 2021;70(4):1–187.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605332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  <a:latin typeface="Calibri"/>
              </a:rPr>
              <a:t>Consultar diretrizes locais/institucionais atualizadas antes de decisões terapêuticas.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